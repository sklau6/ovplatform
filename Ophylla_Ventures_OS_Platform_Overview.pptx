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900">
                <a:solidFill>
                  <a:srgbClr val="EAF2F0"/>
                </a:solidFill>
                <a:latin typeface="Helvetica Neue"/>
              </a:defRPr>
            </a:pPr>
            <a:r>
              <a:t>Route coverage by domain</a:t>
            </a:r>
          </a:p>
        </c:rich>
      </c:tx>
      <c:layout/>
      <c:overlay val="0"/>
    </c:title>
    <c:autoTitleDeleted val="0"/>
    <c:plotArea>
      <c:barChart>
        <c:barDir val="col"/>
        <c:grouping val="clustered"/>
        <c:ser>
          <c:idx val="0"/>
          <c:order val="0"/>
          <c:tx>
            <c:strRef>
              <c:f>Sheet1!$B$1</c:f>
              <c:strCache>
                <c:ptCount val="1"/>
                <c:pt idx="0">
                  <c:v>Routes</c:v>
                </c:pt>
              </c:strCache>
            </c:strRef>
          </c:tx>
          <c:dPt>
            <c:idx val="0"/>
            <c:spPr>
              <a:solidFill>
                <a:srgbClr val="53F0BE"/>
              </a:solidFill>
            </c:spPr>
          </c:dPt>
          <c:dPt>
            <c:idx val="1"/>
            <c:spPr>
              <a:solidFill>
                <a:srgbClr val="53F0BE"/>
              </a:solidFill>
            </c:spPr>
          </c:dPt>
          <c:dPt>
            <c:idx val="2"/>
            <c:spPr>
              <a:solidFill>
                <a:srgbClr val="53F0BE"/>
              </a:solidFill>
            </c:spPr>
          </c:dPt>
          <c:dPt>
            <c:idx val="3"/>
            <c:spPr>
              <a:solidFill>
                <a:srgbClr val="53F0BE"/>
              </a:solidFill>
            </c:spPr>
          </c:dPt>
          <c:dPt>
            <c:idx val="4"/>
            <c:spPr>
              <a:solidFill>
                <a:srgbClr val="53F0BE"/>
              </a:solidFill>
            </c:spPr>
          </c:dPt>
          <c:cat>
            <c:strRef>
              <c:f>Sheet1!$A$2:$A$6</c:f>
              <c:strCache>
                <c:ptCount val="5"/>
                <c:pt idx="0">
                  <c:v>Command</c:v>
                </c:pt>
                <c:pt idx="1">
                  <c:v>Build &amp; operate</c:v>
                </c:pt>
                <c:pt idx="2">
                  <c:v>Intelligence</c:v>
                </c:pt>
                <c:pt idx="3">
                  <c:v>Assets &amp; capital</c:v>
                </c:pt>
                <c:pt idx="4">
                  <c:v>Experience</c:v>
                </c:pt>
              </c:strCache>
            </c:strRef>
          </c:cat>
          <c:val>
            <c:numRef>
              <c:f>Sheet1!$B$2:$B$6</c:f>
              <c:numCache>
                <c:formatCode>General</c:formatCode>
                <c:ptCount val="5"/>
                <c:pt idx="0">
                  <c:v>10</c:v>
                </c:pt>
                <c:pt idx="1">
                  <c:v>25</c:v>
                </c:pt>
                <c:pt idx="2">
                  <c:v>7</c:v>
                </c:pt>
                <c:pt idx="3">
                  <c:v>8</c:v>
                </c:pt>
                <c:pt idx="4">
                  <c:v>8</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1B2C33"/>
            </a:solidFill>
          </a:ln>
        </c:spPr>
        <c:txPr>
          <a:bodyPr/>
          <a:lstStyle/>
          <a:p>
            <a:pPr>
              <a:defRPr sz="700"/>
            </a:pPr>
          </a:p>
        </c:txPr>
        <c:crossAx val="-2113994440"/>
        <c:crosses val="autoZero"/>
        <c:auto val="1"/>
        <c:lblAlgn val="ctr"/>
        <c:lblOffset val="100"/>
        <c:noMultiLvlLbl val="0"/>
      </c:catAx>
      <c:valAx>
        <c:axId val="-2113994440"/>
        <c:scaling/>
        <c:delete val="0"/>
        <c:axPos val="l"/>
        <c:majorGridlines>
          <c:spPr>
            <a:ln>
              <a:solidFill>
                <a:srgbClr val="1B2C33"/>
              </a:solidFill>
            </a:ln>
          </c:spPr>
        </c:majorGridlines>
        <c:majorTickMark val="out"/>
        <c:minorTickMark val="none"/>
        <c:tickLblPos val="nextTo"/>
        <c:spPr>
          <a:ln>
            <a:solidFill>
              <a:srgbClr val="1B2C33"/>
            </a:solidFill>
          </a:ln>
        </c:spPr>
        <c:txPr>
          <a:bodyPr/>
          <a:lstStyle/>
          <a:p>
            <a:pPr>
              <a:defRPr sz="700"/>
            </a:pPr>
          </a:p>
        </c:txPr>
        <c:crossAx val="-2068027336"/>
        <c:crosses val="autoZero"/>
      </c:valAx>
    </c:plotArea>
    <c:dispBlanksAs val="gap"/>
  </c:chart>
  <c:txPr>
    <a:bodyPr/>
    <a:lstStyle/>
    <a:p>
      <a:pPr>
        <a:defRPr sz="700">
          <a:solidFill>
            <a:srgbClr val="8AA6A0"/>
          </a:solidFill>
          <a:latin typeface="Helvetica Neue"/>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thesis: Ophylla is not a dashboard or a model viewer. It is a single operating surface that connects the physical asset, the project model, the operating data and the decisions of the COO. The numbers on this page are the current build: 58 routes, 55 Three.js scenes, eight languages and 116 production checks. Everything is illustrative demo data, not client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executive frame. The platform is organised around five kinds of truth. The value is not any single module; it is that a question such as “why is Tower A late?” can be answered with model, programme, cost, site and market evidence on one screen.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pain thesis. The problem is not a lack of software; it is the absence of a shared operating model. Each gap maps directly to a module in the platform: BIM Studio and BIM on Site, Construction Twin, operations twins, and Agent Operations with the Trust Ledger.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architecture in plain terms. The shell and design system are shared. Every domain module follows the same contract: a route, a data model, a 3D scene and an operating panel. ThreeStage centralises rendering quality so all 55 scenes benefit from the same lighting, shadows and materials. The data layer is intentionally simulated, with provenance and a ledger to show how a real deployment would be governed.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every route. Explain the grouping: Command is the daily operating picture, Build &amp; Operate is delivery and assets, Intelligence is evidence and governance, Assets &amp; Capital is the commercial view, Experience is the tenant and building experience. The exact route count is 58; the deck uses rounded group counts to keep the story legible.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Digital Twin is the anchor. It combines BIM geometry, GIS context, sensor telemetry and asset data. Emphasise that the model is the index, not the deliverable: the value is the ability to move from a building to its performance, work orders, provenance and risk in two clicks.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BIM Studio is the design-coordination view. It is a working federated model, not a pretty render: clash markers, LOD switching, discipline filters and 4D stages all change the model. The COBie panel shows how design data becomes an operating asset.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newest module and the one closest to a real site. It deliberately shows the unfinished condition: exposed frame, partial facade, scaffolding, cranes and laydown. The day/dusk toggle makes the same site legible for a morning walk and an evening review. All project data is illustrative; the site context and workflow are modelled on Hong Kong practice.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addresses the two references directly. The left image is the 3D model graph with all ten tools; the right list maps each tool to its workflow role. The Proptech.AI strip at the bottom is the operations handover: facial recognition, visitor management, occupancy analytics and integration with existing access systems.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Construction Twin is the delivery control room. The emphasis is on choreography: the sequence, the site logistics and the safety envelope. Point out that the same model that supports design coordination also supports the daily site walk and the monthly earned-value review.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is where the platform proves it is not only a portfolio dashboard. Structural utilisation, geotechnical settlement, facade performance and seismic resilience are all first-class views, tied to the same asset and the same evidence ledger.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Mobility demonstrates the smart-city range. The traffic junction and the mobility twin are separate scenes but share the same operating language: a live condition, a scenario and a set of interventions. The mode-share and carbon strip links mobility to the ESG story.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answer to the repeated “especially cars” request. The showroom uses a real automotive glTF asset, not a procedural approximation. For scale, explain the engineering trade-off: the model is merged by material and cloned, so traffic and mobility can show dozens of cars without loading 11 MB per vehicle. The asset is CC BY 4.0 and credited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Energy is the clearest example of a live operating twin. The scenarios are not cosmetic: flows reroute, the grid trips, the BESS carries the island and generators synchronise. This is where the COO sees resilience and cost in the same 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PropTech is the commercial and tenant-facing layer. The point is that leasing, occupancy and experience are not separate from the building model; they are another view of the same asset. This is where the platform connects to the COO’s revenue and retention metrics.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council is the most distinctive part of the COO story, but it is deliberately governed. Agents are not autonomous black boxes: they have mandates, tools, confidence and gates. The Trust Ledger makes the reasoning auditable. This is the demo pattern for a real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counterweight to the AI story. The platform shows where data comes from, which model produced an answer, who can see it and how the decision was attested. The Trust Ledger is the audit spine; the Data module is the governance surface.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the experience requirements that are easy to underestimate. Eight languages are typed dictionaries, not machine translation. Dark is the default; light mode is a deliberate restyle. The navigation now starts collapsed and opens from the hamburger, which gives the 3D canvas the full width on first load.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slide should reassure a CTO and a COO at the same time. The stack is modern but conservative. The important engineering choice is the shared ThreeStage: one place for lighting, shadows, PBR, tone mapping and adaptive quality, so 55 scenes behave consistently. The chart is route coverage by domain, not revenue.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is a feature, not an afterthought. The suite runs 58 routes in two themes, captures console errors and overflow, and checks mobile at 390 px. TypeScript and production builds must pass. The point is not the number itself; it is that the demo is repeatable and regressions are caught before a client sees them.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about what is simulated. The roadmap starts with integrations, because a demo cannot become an operating system without real data. Then asset quality, then a narrow agent pilot, then commercial deployment. Each phase has a gate and a measurable outcome.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thesis and the honesty note. Ophylla is a complete, working demonstration of how a built-environment operating system could feel: one model, one surface, many decisions. It is not a live client deployment; all data is illustrative. The next conversation is about which integration and which agent pilot would prove value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731520"/>
            <a:ext cx="45720" cy="4297680"/>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31520"/>
            <a:ext cx="5486400" cy="274320"/>
          </a:xfrm>
          <a:prstGeom prst="rect">
            <a:avLst/>
          </a:prstGeom>
          <a:noFill/>
        </p:spPr>
        <p:txBody>
          <a:bodyPr wrap="square" lIns="0" rIns="0" tIns="0" bIns="0">
            <a:spAutoFit/>
          </a:bodyPr>
          <a:lstStyle/>
          <a:p>
            <a:pPr algn="l">
              <a:lnSpc>
                <a:spcPct val="100000"/>
              </a:lnSpc>
            </a:pPr>
            <a:r>
              <a:rPr sz="1000" b="1" i="0">
                <a:solidFill>
                  <a:srgbClr val="53F0BE"/>
                </a:solidFill>
                <a:latin typeface="SF Mono"/>
              </a:rPr>
              <a:t>OPHYLLA VENTURES OS</a:t>
            </a:r>
          </a:p>
        </p:txBody>
      </p:sp>
      <p:sp>
        <p:nvSpPr>
          <p:cNvPr id="5" name="TextBox 4"/>
          <p:cNvSpPr txBox="1"/>
          <p:nvPr/>
        </p:nvSpPr>
        <p:spPr>
          <a:xfrm>
            <a:off x="822960" y="1115568"/>
            <a:ext cx="5577840" cy="2377440"/>
          </a:xfrm>
          <a:prstGeom prst="rect">
            <a:avLst/>
          </a:prstGeom>
          <a:noFill/>
        </p:spPr>
        <p:txBody>
          <a:bodyPr wrap="square" lIns="0" rIns="0" tIns="0" bIns="0">
            <a:spAutoFit/>
          </a:bodyPr>
          <a:lstStyle/>
          <a:p>
            <a:pPr algn="l">
              <a:lnSpc>
                <a:spcPct val="102000"/>
              </a:lnSpc>
            </a:pPr>
            <a:r>
              <a:rPr sz="3200" b="1" i="0">
                <a:solidFill>
                  <a:srgbClr val="EAF2F0"/>
                </a:solidFill>
                <a:latin typeface="Helvetica Neue"/>
              </a:rPr>
              <a:t>The operating system for the built environment.</a:t>
            </a:r>
          </a:p>
        </p:txBody>
      </p:sp>
      <p:sp>
        <p:nvSpPr>
          <p:cNvPr id="6" name="TextBox 5"/>
          <p:cNvSpPr txBox="1"/>
          <p:nvPr/>
        </p:nvSpPr>
        <p:spPr>
          <a:xfrm>
            <a:off x="822960" y="2834640"/>
            <a:ext cx="5212080" cy="502920"/>
          </a:xfrm>
          <a:prstGeom prst="rect">
            <a:avLst/>
          </a:prstGeom>
          <a:noFill/>
        </p:spPr>
        <p:txBody>
          <a:bodyPr wrap="square" lIns="0" rIns="0" tIns="0" bIns="0">
            <a:spAutoFit/>
          </a:bodyPr>
          <a:lstStyle/>
          <a:p>
            <a:pPr algn="l">
              <a:lnSpc>
                <a:spcPct val="125000"/>
              </a:lnSpc>
            </a:pPr>
            <a:r>
              <a:rPr sz="1250" b="0" i="0">
                <a:solidFill>
                  <a:srgbClr val="8AA6A0"/>
                </a:solidFill>
                <a:latin typeface="Helvetica Neue"/>
              </a:rPr>
              <a:t>A single command surface for the COO: digital twins, professional BIM, construction delivery, smart-city operations, energy, PropTech and a governed AI agent council.</a:t>
            </a:r>
          </a:p>
        </p:txBody>
      </p:sp>
      <p:pic>
        <p:nvPicPr>
          <p:cNvPr id="7" name="Picture 6" descr="home.jpg"/>
          <p:cNvPicPr>
            <a:picLocks noChangeAspect="1"/>
          </p:cNvPicPr>
          <p:nvPr/>
        </p:nvPicPr>
        <p:blipFill>
          <a:blip r:embed="rId2"/>
          <a:stretch>
            <a:fillRect/>
          </a:stretch>
        </p:blipFill>
        <p:spPr>
          <a:xfrm>
            <a:off x="6263640" y="1051560"/>
            <a:ext cx="5486400" cy="3429000"/>
          </a:xfrm>
          <a:prstGeom prst="rect">
            <a:avLst/>
          </a:prstGeom>
          <a:ln w="12700">
            <a:solidFill>
              <a:srgbClr val="1B2C33"/>
            </a:solidFill>
          </a:ln>
        </p:spPr>
      </p:pic>
      <p:sp>
        <p:nvSpPr>
          <p:cNvPr id="8" name="Rounded Rectangle 7"/>
          <p:cNvSpPr/>
          <p:nvPr/>
        </p:nvSpPr>
        <p:spPr>
          <a:xfrm>
            <a:off x="822960" y="4983480"/>
            <a:ext cx="2487168" cy="105156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5084064"/>
            <a:ext cx="2194560" cy="182880"/>
          </a:xfrm>
          <a:prstGeom prst="rect">
            <a:avLst/>
          </a:prstGeom>
          <a:noFill/>
        </p:spPr>
        <p:txBody>
          <a:bodyPr wrap="square" lIns="0" rIns="0" tIns="0" bIns="0">
            <a:spAutoFit/>
          </a:bodyPr>
          <a:lstStyle/>
          <a:p>
            <a:pPr algn="l">
              <a:lnSpc>
                <a:spcPct val="100000"/>
              </a:lnSpc>
            </a:pPr>
            <a:r>
              <a:rPr sz="700" b="1" i="0">
                <a:solidFill>
                  <a:srgbClr val="5F7875"/>
                </a:solidFill>
                <a:latin typeface="SF Mono"/>
              </a:rPr>
              <a:t>ROUTES</a:t>
            </a:r>
          </a:p>
        </p:txBody>
      </p:sp>
      <p:sp>
        <p:nvSpPr>
          <p:cNvPr id="10" name="TextBox 9"/>
          <p:cNvSpPr txBox="1"/>
          <p:nvPr/>
        </p:nvSpPr>
        <p:spPr>
          <a:xfrm>
            <a:off x="969264" y="5248656"/>
            <a:ext cx="2194560" cy="329184"/>
          </a:xfrm>
          <a:prstGeom prst="rect">
            <a:avLst/>
          </a:prstGeom>
          <a:noFill/>
        </p:spPr>
        <p:txBody>
          <a:bodyPr wrap="square" lIns="0" rIns="0" tIns="0" bIns="0">
            <a:spAutoFit/>
          </a:bodyPr>
          <a:lstStyle/>
          <a:p>
            <a:pPr algn="l">
              <a:lnSpc>
                <a:spcPct val="100000"/>
              </a:lnSpc>
            </a:pPr>
            <a:r>
              <a:rPr sz="2000" b="1" i="0">
                <a:solidFill>
                  <a:srgbClr val="EAF2F0"/>
                </a:solidFill>
                <a:latin typeface="Helvetica Neue"/>
              </a:rPr>
              <a:t>58</a:t>
            </a:r>
          </a:p>
        </p:txBody>
      </p:sp>
      <p:sp>
        <p:nvSpPr>
          <p:cNvPr id="11" name="TextBox 10"/>
          <p:cNvSpPr txBox="1"/>
          <p:nvPr/>
        </p:nvSpPr>
        <p:spPr>
          <a:xfrm>
            <a:off x="969264" y="5632704"/>
            <a:ext cx="2194560" cy="182880"/>
          </a:xfrm>
          <a:prstGeom prst="rect">
            <a:avLst/>
          </a:prstGeom>
          <a:noFill/>
        </p:spPr>
        <p:txBody>
          <a:bodyPr wrap="square" lIns="0" rIns="0" tIns="0" bIns="0">
            <a:spAutoFit/>
          </a:bodyPr>
          <a:lstStyle/>
          <a:p>
            <a:pPr algn="l">
              <a:lnSpc>
                <a:spcPct val="100000"/>
              </a:lnSpc>
            </a:pPr>
            <a:r>
              <a:rPr sz="700" b="0" i="0">
                <a:solidFill>
                  <a:srgbClr val="53F0BE"/>
                </a:solidFill>
                <a:latin typeface="SF Mono"/>
              </a:rPr>
              <a:t>one platform</a:t>
            </a:r>
          </a:p>
        </p:txBody>
      </p:sp>
      <p:sp>
        <p:nvSpPr>
          <p:cNvPr id="12" name="Rounded Rectangle 11"/>
          <p:cNvSpPr/>
          <p:nvPr/>
        </p:nvSpPr>
        <p:spPr>
          <a:xfrm>
            <a:off x="3547872" y="4983480"/>
            <a:ext cx="2487168" cy="105156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94176" y="5084064"/>
            <a:ext cx="2194560" cy="182880"/>
          </a:xfrm>
          <a:prstGeom prst="rect">
            <a:avLst/>
          </a:prstGeom>
          <a:noFill/>
        </p:spPr>
        <p:txBody>
          <a:bodyPr wrap="square" lIns="0" rIns="0" tIns="0" bIns="0">
            <a:spAutoFit/>
          </a:bodyPr>
          <a:lstStyle/>
          <a:p>
            <a:pPr algn="l">
              <a:lnSpc>
                <a:spcPct val="100000"/>
              </a:lnSpc>
            </a:pPr>
            <a:r>
              <a:rPr sz="700" b="1" i="0">
                <a:solidFill>
                  <a:srgbClr val="5F7875"/>
                </a:solidFill>
                <a:latin typeface="SF Mono"/>
              </a:rPr>
              <a:t>3D SCENES</a:t>
            </a:r>
          </a:p>
        </p:txBody>
      </p:sp>
      <p:sp>
        <p:nvSpPr>
          <p:cNvPr id="14" name="TextBox 13"/>
          <p:cNvSpPr txBox="1"/>
          <p:nvPr/>
        </p:nvSpPr>
        <p:spPr>
          <a:xfrm>
            <a:off x="3694176" y="5248656"/>
            <a:ext cx="2194560" cy="329184"/>
          </a:xfrm>
          <a:prstGeom prst="rect">
            <a:avLst/>
          </a:prstGeom>
          <a:noFill/>
        </p:spPr>
        <p:txBody>
          <a:bodyPr wrap="square" lIns="0" rIns="0" tIns="0" bIns="0">
            <a:spAutoFit/>
          </a:bodyPr>
          <a:lstStyle/>
          <a:p>
            <a:pPr algn="l">
              <a:lnSpc>
                <a:spcPct val="100000"/>
              </a:lnSpc>
            </a:pPr>
            <a:r>
              <a:rPr sz="2000" b="1" i="0">
                <a:solidFill>
                  <a:srgbClr val="EAF2F0"/>
                </a:solidFill>
                <a:latin typeface="Helvetica Neue"/>
              </a:rPr>
              <a:t>55</a:t>
            </a:r>
          </a:p>
        </p:txBody>
      </p:sp>
      <p:sp>
        <p:nvSpPr>
          <p:cNvPr id="15" name="TextBox 14"/>
          <p:cNvSpPr txBox="1"/>
          <p:nvPr/>
        </p:nvSpPr>
        <p:spPr>
          <a:xfrm>
            <a:off x="3694176" y="5632704"/>
            <a:ext cx="2194560" cy="182880"/>
          </a:xfrm>
          <a:prstGeom prst="rect">
            <a:avLst/>
          </a:prstGeom>
          <a:noFill/>
        </p:spPr>
        <p:txBody>
          <a:bodyPr wrap="square" lIns="0" rIns="0" tIns="0" bIns="0">
            <a:spAutoFit/>
          </a:bodyPr>
          <a:lstStyle/>
          <a:p>
            <a:pPr algn="l">
              <a:lnSpc>
                <a:spcPct val="100000"/>
              </a:lnSpc>
            </a:pPr>
            <a:r>
              <a:rPr sz="700" b="0" i="0">
                <a:solidFill>
                  <a:srgbClr val="53F0BE"/>
                </a:solidFill>
                <a:latin typeface="SF Mono"/>
              </a:rPr>
              <a:t>real-time</a:t>
            </a:r>
          </a:p>
        </p:txBody>
      </p:sp>
      <p:sp>
        <p:nvSpPr>
          <p:cNvPr id="16" name="Rounded Rectangle 15"/>
          <p:cNvSpPr/>
          <p:nvPr/>
        </p:nvSpPr>
        <p:spPr>
          <a:xfrm>
            <a:off x="6272784" y="4983480"/>
            <a:ext cx="2487168" cy="105156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5084064"/>
            <a:ext cx="2194560" cy="182880"/>
          </a:xfrm>
          <a:prstGeom prst="rect">
            <a:avLst/>
          </a:prstGeom>
          <a:noFill/>
        </p:spPr>
        <p:txBody>
          <a:bodyPr wrap="square" lIns="0" rIns="0" tIns="0" bIns="0">
            <a:spAutoFit/>
          </a:bodyPr>
          <a:lstStyle/>
          <a:p>
            <a:pPr algn="l">
              <a:lnSpc>
                <a:spcPct val="100000"/>
              </a:lnSpc>
            </a:pPr>
            <a:r>
              <a:rPr sz="700" b="1" i="0">
                <a:solidFill>
                  <a:srgbClr val="5F7875"/>
                </a:solidFill>
                <a:latin typeface="SF Mono"/>
              </a:rPr>
              <a:t>LANGUAGES</a:t>
            </a:r>
          </a:p>
        </p:txBody>
      </p:sp>
      <p:sp>
        <p:nvSpPr>
          <p:cNvPr id="18" name="TextBox 17"/>
          <p:cNvSpPr txBox="1"/>
          <p:nvPr/>
        </p:nvSpPr>
        <p:spPr>
          <a:xfrm>
            <a:off x="6419088" y="5248656"/>
            <a:ext cx="2194560" cy="329184"/>
          </a:xfrm>
          <a:prstGeom prst="rect">
            <a:avLst/>
          </a:prstGeom>
          <a:noFill/>
        </p:spPr>
        <p:txBody>
          <a:bodyPr wrap="square" lIns="0" rIns="0" tIns="0" bIns="0">
            <a:spAutoFit/>
          </a:bodyPr>
          <a:lstStyle/>
          <a:p>
            <a:pPr algn="l">
              <a:lnSpc>
                <a:spcPct val="100000"/>
              </a:lnSpc>
            </a:pPr>
            <a:r>
              <a:rPr sz="2000" b="1" i="0">
                <a:solidFill>
                  <a:srgbClr val="EAF2F0"/>
                </a:solidFill>
                <a:latin typeface="Helvetica Neue"/>
              </a:rPr>
              <a:t>8</a:t>
            </a:r>
          </a:p>
        </p:txBody>
      </p:sp>
      <p:sp>
        <p:nvSpPr>
          <p:cNvPr id="19" name="TextBox 18"/>
          <p:cNvSpPr txBox="1"/>
          <p:nvPr/>
        </p:nvSpPr>
        <p:spPr>
          <a:xfrm>
            <a:off x="6419088" y="5632704"/>
            <a:ext cx="2194560" cy="182880"/>
          </a:xfrm>
          <a:prstGeom prst="rect">
            <a:avLst/>
          </a:prstGeom>
          <a:noFill/>
        </p:spPr>
        <p:txBody>
          <a:bodyPr wrap="square" lIns="0" rIns="0" tIns="0" bIns="0">
            <a:spAutoFit/>
          </a:bodyPr>
          <a:lstStyle/>
          <a:p>
            <a:pPr algn="l">
              <a:lnSpc>
                <a:spcPct val="100000"/>
              </a:lnSpc>
            </a:pPr>
            <a:r>
              <a:rPr sz="700" b="0" i="0">
                <a:solidFill>
                  <a:srgbClr val="53F0BE"/>
                </a:solidFill>
                <a:latin typeface="SF Mono"/>
              </a:rPr>
              <a:t>localised</a:t>
            </a:r>
          </a:p>
        </p:txBody>
      </p:sp>
      <p:sp>
        <p:nvSpPr>
          <p:cNvPr id="20" name="Rounded Rectangle 19"/>
          <p:cNvSpPr/>
          <p:nvPr/>
        </p:nvSpPr>
        <p:spPr>
          <a:xfrm>
            <a:off x="8997696" y="4983480"/>
            <a:ext cx="2487168" cy="105156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5084064"/>
            <a:ext cx="2194560" cy="182880"/>
          </a:xfrm>
          <a:prstGeom prst="rect">
            <a:avLst/>
          </a:prstGeom>
          <a:noFill/>
        </p:spPr>
        <p:txBody>
          <a:bodyPr wrap="square" lIns="0" rIns="0" tIns="0" bIns="0">
            <a:spAutoFit/>
          </a:bodyPr>
          <a:lstStyle/>
          <a:p>
            <a:pPr algn="l">
              <a:lnSpc>
                <a:spcPct val="100000"/>
              </a:lnSpc>
            </a:pPr>
            <a:r>
              <a:rPr sz="700" b="1" i="0">
                <a:solidFill>
                  <a:srgbClr val="5F7875"/>
                </a:solidFill>
                <a:latin typeface="SF Mono"/>
              </a:rPr>
              <a:t>CHECKS</a:t>
            </a:r>
          </a:p>
        </p:txBody>
      </p:sp>
      <p:sp>
        <p:nvSpPr>
          <p:cNvPr id="22" name="TextBox 21"/>
          <p:cNvSpPr txBox="1"/>
          <p:nvPr/>
        </p:nvSpPr>
        <p:spPr>
          <a:xfrm>
            <a:off x="9144000" y="5248656"/>
            <a:ext cx="2194560" cy="329184"/>
          </a:xfrm>
          <a:prstGeom prst="rect">
            <a:avLst/>
          </a:prstGeom>
          <a:noFill/>
        </p:spPr>
        <p:txBody>
          <a:bodyPr wrap="square" lIns="0" rIns="0" tIns="0" bIns="0">
            <a:spAutoFit/>
          </a:bodyPr>
          <a:lstStyle/>
          <a:p>
            <a:pPr algn="l">
              <a:lnSpc>
                <a:spcPct val="100000"/>
              </a:lnSpc>
            </a:pPr>
            <a:r>
              <a:rPr sz="2000" b="1" i="0">
                <a:solidFill>
                  <a:srgbClr val="EAF2F0"/>
                </a:solidFill>
                <a:latin typeface="Helvetica Neue"/>
              </a:rPr>
              <a:t>116</a:t>
            </a:r>
          </a:p>
        </p:txBody>
      </p:sp>
      <p:sp>
        <p:nvSpPr>
          <p:cNvPr id="23" name="TextBox 22"/>
          <p:cNvSpPr txBox="1"/>
          <p:nvPr/>
        </p:nvSpPr>
        <p:spPr>
          <a:xfrm>
            <a:off x="9144000" y="5632704"/>
            <a:ext cx="2194560" cy="182880"/>
          </a:xfrm>
          <a:prstGeom prst="rect">
            <a:avLst/>
          </a:prstGeom>
          <a:noFill/>
        </p:spPr>
        <p:txBody>
          <a:bodyPr wrap="square" lIns="0" rIns="0" tIns="0" bIns="0">
            <a:spAutoFit/>
          </a:bodyPr>
          <a:lstStyle/>
          <a:p>
            <a:pPr algn="l">
              <a:lnSpc>
                <a:spcPct val="100000"/>
              </a:lnSpc>
            </a:pPr>
            <a:r>
              <a:rPr sz="700" b="0" i="0">
                <a:solidFill>
                  <a:srgbClr val="53F0BE"/>
                </a:solidFill>
                <a:latin typeface="SF Mono"/>
              </a:rPr>
              <a:t>production</a:t>
            </a:r>
          </a:p>
        </p:txBody>
      </p:sp>
      <p:sp>
        <p:nvSpPr>
          <p:cNvPr id="24" name="TextBox 23"/>
          <p:cNvSpPr txBox="1"/>
          <p:nvPr/>
        </p:nvSpPr>
        <p:spPr>
          <a:xfrm>
            <a:off x="822960" y="6172200"/>
            <a:ext cx="6400800" cy="228600"/>
          </a:xfrm>
          <a:prstGeom prst="rect">
            <a:avLst/>
          </a:prstGeom>
          <a:noFill/>
        </p:spPr>
        <p:txBody>
          <a:bodyPr wrap="square" lIns="0" rIns="0" tIns="0" bIns="0">
            <a:spAutoFit/>
          </a:bodyPr>
          <a:lstStyle/>
          <a:p>
            <a:pPr algn="l">
              <a:lnSpc>
                <a:spcPct val="100000"/>
              </a:lnSpc>
            </a:pPr>
            <a:r>
              <a:rPr sz="720" b="0" i="0">
                <a:solidFill>
                  <a:srgbClr val="5F7875"/>
                </a:solidFill>
                <a:latin typeface="SF Mono"/>
              </a:rPr>
              <a:t>DEMO ENVIRONMENT  ·  ILLUSTRATIVE DATA  ·  HONG KONG</a:t>
            </a:r>
          </a:p>
        </p:txBody>
      </p:sp>
      <p:sp>
        <p:nvSpPr>
          <p:cNvPr id="25" name="TextBox 24"/>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26" name="TextBox 25"/>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02  /  EXECUTIVE VIEW</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700" b="1" i="0">
                <a:solidFill>
                  <a:srgbClr val="EAF2F0"/>
                </a:solidFill>
                <a:latin typeface="Helvetica Neue"/>
              </a:rPr>
              <a:t>One operating picture, from model to margin.</a:t>
            </a:r>
          </a:p>
        </p:txBody>
      </p:sp>
      <p:sp>
        <p:nvSpPr>
          <p:cNvPr id="5" name="TextBox 4"/>
          <p:cNvSpPr txBox="1"/>
          <p:nvPr/>
        </p:nvSpPr>
        <p:spPr>
          <a:xfrm>
            <a:off x="502920" y="1371600"/>
            <a:ext cx="11064240" cy="502920"/>
          </a:xfrm>
          <a:prstGeom prst="rect">
            <a:avLst/>
          </a:prstGeom>
          <a:noFill/>
        </p:spPr>
        <p:txBody>
          <a:bodyPr wrap="square" lIns="0" rIns="0" tIns="0" bIns="0">
            <a:spAutoFit/>
          </a:bodyPr>
          <a:lstStyle/>
          <a:p>
            <a:pPr algn="l">
              <a:lnSpc>
                <a:spcPct val="125000"/>
              </a:lnSpc>
            </a:pPr>
            <a:r>
              <a:rPr sz="1150" b="0" i="0">
                <a:solidFill>
                  <a:srgbClr val="8AA6A0"/>
                </a:solidFill>
                <a:latin typeface="Helvetica Neue"/>
              </a:rPr>
              <a:t>Most built-environment organisations run projects, assets and corporate performance in separate systems. Ophylla joins them on one navigable surface, with the 3D model as the common spatial index.</a:t>
            </a:r>
          </a:p>
        </p:txBody>
      </p:sp>
      <p:pic>
        <p:nvPicPr>
          <p:cNvPr id="6" name="Picture 5" descr="twin.jpg"/>
          <p:cNvPicPr>
            <a:picLocks noChangeAspect="1"/>
          </p:cNvPicPr>
          <p:nvPr/>
        </p:nvPicPr>
        <p:blipFill>
          <a:blip r:embed="rId2"/>
          <a:stretch>
            <a:fillRect/>
          </a:stretch>
        </p:blipFill>
        <p:spPr>
          <a:xfrm>
            <a:off x="502920" y="2331720"/>
            <a:ext cx="7360920" cy="3977639"/>
          </a:xfrm>
          <a:prstGeom prst="rect">
            <a:avLst/>
          </a:prstGeom>
          <a:ln w="12700">
            <a:solidFill>
              <a:srgbClr val="1B2C33"/>
            </a:solidFill>
          </a:ln>
        </p:spPr>
      </p:pic>
      <p:sp>
        <p:nvSpPr>
          <p:cNvPr id="7" name="Rounded Rectangle 6"/>
          <p:cNvSpPr/>
          <p:nvPr/>
        </p:nvSpPr>
        <p:spPr>
          <a:xfrm>
            <a:off x="8183879" y="2331720"/>
            <a:ext cx="3502152" cy="3977639"/>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94192" y="2487168"/>
            <a:ext cx="3108960" cy="201168"/>
          </a:xfrm>
          <a:prstGeom prst="rect">
            <a:avLst/>
          </a:prstGeom>
          <a:noFill/>
        </p:spPr>
        <p:txBody>
          <a:bodyPr wrap="square" lIns="0" rIns="0" tIns="0" bIns="0">
            <a:spAutoFit/>
          </a:bodyPr>
          <a:lstStyle/>
          <a:p>
            <a:pPr algn="l">
              <a:lnSpc>
                <a:spcPct val="100000"/>
              </a:lnSpc>
            </a:pPr>
            <a:r>
              <a:rPr sz="720" b="1" i="0">
                <a:solidFill>
                  <a:srgbClr val="53F0BE"/>
                </a:solidFill>
                <a:latin typeface="SF Mono"/>
              </a:rPr>
              <a:t>WHAT THE PLATFORM CONNECTS</a:t>
            </a:r>
          </a:p>
        </p:txBody>
      </p:sp>
      <p:sp>
        <p:nvSpPr>
          <p:cNvPr id="9" name="TextBox 8"/>
          <p:cNvSpPr txBox="1"/>
          <p:nvPr/>
        </p:nvSpPr>
        <p:spPr>
          <a:xfrm>
            <a:off x="8394192" y="2788920"/>
            <a:ext cx="3063240" cy="182880"/>
          </a:xfrm>
          <a:prstGeom prst="rect">
            <a:avLst/>
          </a:prstGeom>
          <a:noFill/>
        </p:spPr>
        <p:txBody>
          <a:bodyPr wrap="square" lIns="0" rIns="0" tIns="0" bIns="0">
            <a:spAutoFit/>
          </a:bodyPr>
          <a:lstStyle/>
          <a:p>
            <a:pPr algn="l">
              <a:lnSpc>
                <a:spcPct val="100000"/>
              </a:lnSpc>
            </a:pPr>
            <a:r>
              <a:rPr sz="700" b="1" i="0">
                <a:solidFill>
                  <a:srgbClr val="53F0BE"/>
                </a:solidFill>
                <a:latin typeface="SF Mono"/>
              </a:rPr>
              <a:t>SPATIAL TRUTH</a:t>
            </a:r>
          </a:p>
        </p:txBody>
      </p:sp>
      <p:sp>
        <p:nvSpPr>
          <p:cNvPr id="10" name="TextBox 9"/>
          <p:cNvSpPr txBox="1"/>
          <p:nvPr/>
        </p:nvSpPr>
        <p:spPr>
          <a:xfrm>
            <a:off x="8394192" y="2953512"/>
            <a:ext cx="3063240" cy="420624"/>
          </a:xfrm>
          <a:prstGeom prst="rect">
            <a:avLst/>
          </a:prstGeom>
          <a:noFill/>
        </p:spPr>
        <p:txBody>
          <a:bodyPr wrap="square" lIns="0" rIns="0" tIns="0" bIns="0">
            <a:spAutoFit/>
          </a:bodyPr>
          <a:lstStyle/>
          <a:p>
            <a:pPr algn="l">
              <a:lnSpc>
                <a:spcPct val="110000"/>
              </a:lnSpc>
            </a:pPr>
            <a:r>
              <a:rPr sz="840" b="0" i="0">
                <a:solidFill>
                  <a:srgbClr val="8AA6A0"/>
                </a:solidFill>
                <a:latin typeface="Helvetica Neue"/>
              </a:rPr>
              <a:t>Digital twin, GIS, BIM and site reality in one coordinate system.</a:t>
            </a:r>
          </a:p>
        </p:txBody>
      </p:sp>
      <p:sp>
        <p:nvSpPr>
          <p:cNvPr id="11" name="TextBox 10"/>
          <p:cNvSpPr txBox="1"/>
          <p:nvPr/>
        </p:nvSpPr>
        <p:spPr>
          <a:xfrm>
            <a:off x="8394192" y="3447287"/>
            <a:ext cx="3063240" cy="182880"/>
          </a:xfrm>
          <a:prstGeom prst="rect">
            <a:avLst/>
          </a:prstGeom>
          <a:noFill/>
        </p:spPr>
        <p:txBody>
          <a:bodyPr wrap="square" lIns="0" rIns="0" tIns="0" bIns="0">
            <a:spAutoFit/>
          </a:bodyPr>
          <a:lstStyle/>
          <a:p>
            <a:pPr algn="l">
              <a:lnSpc>
                <a:spcPct val="100000"/>
              </a:lnSpc>
            </a:pPr>
            <a:r>
              <a:rPr sz="700" b="1" i="0">
                <a:solidFill>
                  <a:srgbClr val="53F0BE"/>
                </a:solidFill>
                <a:latin typeface="SF Mono"/>
              </a:rPr>
              <a:t>DELIVERY TRUTH</a:t>
            </a:r>
          </a:p>
        </p:txBody>
      </p:sp>
      <p:sp>
        <p:nvSpPr>
          <p:cNvPr id="12" name="TextBox 11"/>
          <p:cNvSpPr txBox="1"/>
          <p:nvPr/>
        </p:nvSpPr>
        <p:spPr>
          <a:xfrm>
            <a:off x="8394192" y="3611879"/>
            <a:ext cx="3063240" cy="420624"/>
          </a:xfrm>
          <a:prstGeom prst="rect">
            <a:avLst/>
          </a:prstGeom>
          <a:noFill/>
        </p:spPr>
        <p:txBody>
          <a:bodyPr wrap="square" lIns="0" rIns="0" tIns="0" bIns="0">
            <a:spAutoFit/>
          </a:bodyPr>
          <a:lstStyle/>
          <a:p>
            <a:pPr algn="l">
              <a:lnSpc>
                <a:spcPct val="110000"/>
              </a:lnSpc>
            </a:pPr>
            <a:r>
              <a:rPr sz="840" b="0" i="0">
                <a:solidFill>
                  <a:srgbClr val="8AA6A0"/>
                </a:solidFill>
                <a:latin typeface="Helvetica Neue"/>
              </a:rPr>
              <a:t>4D programme, clashes, quantities, RFIs, commissioning and handover.</a:t>
            </a:r>
          </a:p>
        </p:txBody>
      </p:sp>
      <p:sp>
        <p:nvSpPr>
          <p:cNvPr id="13" name="TextBox 12"/>
          <p:cNvSpPr txBox="1"/>
          <p:nvPr/>
        </p:nvSpPr>
        <p:spPr>
          <a:xfrm>
            <a:off x="8394192" y="4105655"/>
            <a:ext cx="3063240" cy="182880"/>
          </a:xfrm>
          <a:prstGeom prst="rect">
            <a:avLst/>
          </a:prstGeom>
          <a:noFill/>
        </p:spPr>
        <p:txBody>
          <a:bodyPr wrap="square" lIns="0" rIns="0" tIns="0" bIns="0">
            <a:spAutoFit/>
          </a:bodyPr>
          <a:lstStyle/>
          <a:p>
            <a:pPr algn="l">
              <a:lnSpc>
                <a:spcPct val="100000"/>
              </a:lnSpc>
            </a:pPr>
            <a:r>
              <a:rPr sz="700" b="1" i="0">
                <a:solidFill>
                  <a:srgbClr val="53F0BE"/>
                </a:solidFill>
                <a:latin typeface="SF Mono"/>
              </a:rPr>
              <a:t>OPERATING TRUTH</a:t>
            </a:r>
          </a:p>
        </p:txBody>
      </p:sp>
      <p:sp>
        <p:nvSpPr>
          <p:cNvPr id="14" name="TextBox 13"/>
          <p:cNvSpPr txBox="1"/>
          <p:nvPr/>
        </p:nvSpPr>
        <p:spPr>
          <a:xfrm>
            <a:off x="8394192" y="4270247"/>
            <a:ext cx="3063240" cy="420624"/>
          </a:xfrm>
          <a:prstGeom prst="rect">
            <a:avLst/>
          </a:prstGeom>
          <a:noFill/>
        </p:spPr>
        <p:txBody>
          <a:bodyPr wrap="square" lIns="0" rIns="0" tIns="0" bIns="0">
            <a:spAutoFit/>
          </a:bodyPr>
          <a:lstStyle/>
          <a:p>
            <a:pPr algn="l">
              <a:lnSpc>
                <a:spcPct val="110000"/>
              </a:lnSpc>
            </a:pPr>
            <a:r>
              <a:rPr sz="840" b="0" i="0">
                <a:solidFill>
                  <a:srgbClr val="8AA6A0"/>
                </a:solidFill>
                <a:latin typeface="Helvetica Neue"/>
              </a:rPr>
              <a:t>Energy, mobility, safety, maintenance and tenant experience.</a:t>
            </a:r>
          </a:p>
        </p:txBody>
      </p:sp>
      <p:sp>
        <p:nvSpPr>
          <p:cNvPr id="15" name="TextBox 14"/>
          <p:cNvSpPr txBox="1"/>
          <p:nvPr/>
        </p:nvSpPr>
        <p:spPr>
          <a:xfrm>
            <a:off x="8394192" y="4764023"/>
            <a:ext cx="3063240" cy="182880"/>
          </a:xfrm>
          <a:prstGeom prst="rect">
            <a:avLst/>
          </a:prstGeom>
          <a:noFill/>
        </p:spPr>
        <p:txBody>
          <a:bodyPr wrap="square" lIns="0" rIns="0" tIns="0" bIns="0">
            <a:spAutoFit/>
          </a:bodyPr>
          <a:lstStyle/>
          <a:p>
            <a:pPr algn="l">
              <a:lnSpc>
                <a:spcPct val="100000"/>
              </a:lnSpc>
            </a:pPr>
            <a:r>
              <a:rPr sz="700" b="1" i="0">
                <a:solidFill>
                  <a:srgbClr val="53F0BE"/>
                </a:solidFill>
                <a:latin typeface="SF Mono"/>
              </a:rPr>
              <a:t>COMMERCIAL TRUTH</a:t>
            </a:r>
          </a:p>
        </p:txBody>
      </p:sp>
      <p:sp>
        <p:nvSpPr>
          <p:cNvPr id="16" name="TextBox 15"/>
          <p:cNvSpPr txBox="1"/>
          <p:nvPr/>
        </p:nvSpPr>
        <p:spPr>
          <a:xfrm>
            <a:off x="8394192" y="4928615"/>
            <a:ext cx="3063240" cy="420624"/>
          </a:xfrm>
          <a:prstGeom prst="rect">
            <a:avLst/>
          </a:prstGeom>
          <a:noFill/>
        </p:spPr>
        <p:txBody>
          <a:bodyPr wrap="square" lIns="0" rIns="0" tIns="0" bIns="0">
            <a:spAutoFit/>
          </a:bodyPr>
          <a:lstStyle/>
          <a:p>
            <a:pPr algn="l">
              <a:lnSpc>
                <a:spcPct val="110000"/>
              </a:lnSpc>
            </a:pPr>
            <a:r>
              <a:rPr sz="840" b="0" i="0">
                <a:solidFill>
                  <a:srgbClr val="8AA6A0"/>
                </a:solidFill>
                <a:latin typeface="Helvetica Neue"/>
              </a:rPr>
              <a:t>Portfolio value, P&amp;L, capital allocation and risk.</a:t>
            </a:r>
          </a:p>
        </p:txBody>
      </p:sp>
      <p:sp>
        <p:nvSpPr>
          <p:cNvPr id="17" name="TextBox 16"/>
          <p:cNvSpPr txBox="1"/>
          <p:nvPr/>
        </p:nvSpPr>
        <p:spPr>
          <a:xfrm>
            <a:off x="8394192" y="5422391"/>
            <a:ext cx="3063240" cy="182880"/>
          </a:xfrm>
          <a:prstGeom prst="rect">
            <a:avLst/>
          </a:prstGeom>
          <a:noFill/>
        </p:spPr>
        <p:txBody>
          <a:bodyPr wrap="square" lIns="0" rIns="0" tIns="0" bIns="0">
            <a:spAutoFit/>
          </a:bodyPr>
          <a:lstStyle/>
          <a:p>
            <a:pPr algn="l">
              <a:lnSpc>
                <a:spcPct val="100000"/>
              </a:lnSpc>
            </a:pPr>
            <a:r>
              <a:rPr sz="700" b="1" i="0">
                <a:solidFill>
                  <a:srgbClr val="53F0BE"/>
                </a:solidFill>
                <a:latin typeface="SF Mono"/>
              </a:rPr>
              <a:t>DECISION TRUTH</a:t>
            </a:r>
          </a:p>
        </p:txBody>
      </p:sp>
      <p:sp>
        <p:nvSpPr>
          <p:cNvPr id="18" name="TextBox 17"/>
          <p:cNvSpPr txBox="1"/>
          <p:nvPr/>
        </p:nvSpPr>
        <p:spPr>
          <a:xfrm>
            <a:off x="8394192" y="5586983"/>
            <a:ext cx="3063240" cy="420624"/>
          </a:xfrm>
          <a:prstGeom prst="rect">
            <a:avLst/>
          </a:prstGeom>
          <a:noFill/>
        </p:spPr>
        <p:txBody>
          <a:bodyPr wrap="square" lIns="0" rIns="0" tIns="0" bIns="0">
            <a:spAutoFit/>
          </a:bodyPr>
          <a:lstStyle/>
          <a:p>
            <a:pPr algn="l">
              <a:lnSpc>
                <a:spcPct val="110000"/>
              </a:lnSpc>
            </a:pPr>
            <a:r>
              <a:rPr sz="840" b="0" i="0">
                <a:solidFill>
                  <a:srgbClr val="8AA6A0"/>
                </a:solidFill>
                <a:latin typeface="Helvetica Neue"/>
              </a:rPr>
              <a:t>Agent council with evidence, confidence and human gates.</a:t>
            </a:r>
          </a:p>
        </p:txBody>
      </p:sp>
      <p:sp>
        <p:nvSpPr>
          <p:cNvPr id="19" name="TextBox 18"/>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20" name="TextBox 19"/>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03  /  WHY NOW</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700" b="1" i="0">
                <a:solidFill>
                  <a:srgbClr val="EAF2F0"/>
                </a:solidFill>
                <a:latin typeface="Helvetica Neue"/>
              </a:rPr>
              <a:t>The built environment is rich in data and poor in decisions.</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1180" b="0" i="0">
                <a:solidFill>
                  <a:srgbClr val="8AA6A0"/>
                </a:solidFill>
                <a:latin typeface="Helvetica Neue"/>
              </a:rPr>
              <a:t>The average asset generates thousands of signals a day, yet the COO still reconciles them by hand. Four gaps recur in every portfolio.</a:t>
            </a:r>
          </a:p>
        </p:txBody>
      </p:sp>
      <p:sp>
        <p:nvSpPr>
          <p:cNvPr id="6" name="Rounded Rectangle 5"/>
          <p:cNvSpPr/>
          <p:nvPr/>
        </p:nvSpPr>
        <p:spPr>
          <a:xfrm>
            <a:off x="502920" y="2240280"/>
            <a:ext cx="5440680" cy="173736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404872"/>
            <a:ext cx="457200" cy="274320"/>
          </a:xfrm>
          <a:prstGeom prst="rect">
            <a:avLst/>
          </a:prstGeom>
          <a:noFill/>
        </p:spPr>
        <p:txBody>
          <a:bodyPr wrap="square" lIns="0" rIns="0" tIns="0" bIns="0">
            <a:spAutoFit/>
          </a:bodyPr>
          <a:lstStyle/>
          <a:p>
            <a:pPr algn="l">
              <a:lnSpc>
                <a:spcPct val="100000"/>
              </a:lnSpc>
            </a:pPr>
            <a:r>
              <a:rPr sz="1100" b="1" i="0">
                <a:solidFill>
                  <a:srgbClr val="76C9C9"/>
                </a:solidFill>
                <a:latin typeface="SF Mono"/>
              </a:rPr>
              <a:t>01</a:t>
            </a:r>
          </a:p>
        </p:txBody>
      </p:sp>
      <p:sp>
        <p:nvSpPr>
          <p:cNvPr id="8" name="TextBox 7"/>
          <p:cNvSpPr txBox="1"/>
          <p:nvPr/>
        </p:nvSpPr>
        <p:spPr>
          <a:xfrm>
            <a:off x="1216152" y="2423160"/>
            <a:ext cx="4389120" cy="228600"/>
          </a:xfrm>
          <a:prstGeom prst="rect">
            <a:avLst/>
          </a:prstGeom>
          <a:noFill/>
        </p:spPr>
        <p:txBody>
          <a:bodyPr wrap="square" lIns="0" rIns="0" tIns="0" bIns="0">
            <a:spAutoFit/>
          </a:bodyPr>
          <a:lstStyle/>
          <a:p>
            <a:pPr algn="l">
              <a:lnSpc>
                <a:spcPct val="100000"/>
              </a:lnSpc>
            </a:pPr>
            <a:r>
              <a:rPr sz="950" b="1" i="0">
                <a:solidFill>
                  <a:srgbClr val="EAF2F0"/>
                </a:solidFill>
                <a:latin typeface="SF Mono"/>
              </a:rPr>
              <a:t>FRAGMENTED MODELS</a:t>
            </a:r>
          </a:p>
        </p:txBody>
      </p:sp>
      <p:sp>
        <p:nvSpPr>
          <p:cNvPr id="9" name="TextBox 8"/>
          <p:cNvSpPr txBox="1"/>
          <p:nvPr/>
        </p:nvSpPr>
        <p:spPr>
          <a:xfrm>
            <a:off x="704088" y="2807208"/>
            <a:ext cx="4983480" cy="731520"/>
          </a:xfrm>
          <a:prstGeom prst="rect">
            <a:avLst/>
          </a:prstGeom>
          <a:noFill/>
        </p:spPr>
        <p:txBody>
          <a:bodyPr wrap="square" lIns="0" rIns="0" tIns="0" bIns="0">
            <a:spAutoFit/>
          </a:bodyPr>
          <a:lstStyle/>
          <a:p>
            <a:pPr algn="l">
              <a:lnSpc>
                <a:spcPct val="115000"/>
              </a:lnSpc>
            </a:pPr>
            <a:r>
              <a:rPr sz="930" b="0" i="0">
                <a:solidFill>
                  <a:srgbClr val="8AA6A0"/>
                </a:solidFill>
                <a:latin typeface="Helvetica Neue"/>
              </a:rPr>
              <a:t>Architecture, structure, MEP, facade and site models live in different authoring tools and versions.</a:t>
            </a:r>
          </a:p>
        </p:txBody>
      </p:sp>
      <p:sp>
        <p:nvSpPr>
          <p:cNvPr id="10" name="TextBox 9"/>
          <p:cNvSpPr txBox="1"/>
          <p:nvPr/>
        </p:nvSpPr>
        <p:spPr>
          <a:xfrm>
            <a:off x="704088" y="3630168"/>
            <a:ext cx="4389120" cy="182880"/>
          </a:xfrm>
          <a:prstGeom prst="rect">
            <a:avLst/>
          </a:prstGeom>
          <a:noFill/>
        </p:spPr>
        <p:txBody>
          <a:bodyPr wrap="square" lIns="0" rIns="0" tIns="0" bIns="0">
            <a:spAutoFit/>
          </a:bodyPr>
          <a:lstStyle/>
          <a:p>
            <a:pPr algn="l">
              <a:lnSpc>
                <a:spcPct val="100000"/>
              </a:lnSpc>
            </a:pPr>
            <a:r>
              <a:rPr sz="680" b="1" i="0">
                <a:solidFill>
                  <a:srgbClr val="76C9C9"/>
                </a:solidFill>
                <a:latin typeface="SF Mono"/>
              </a:rPr>
              <a:t>BIM · IFC · CDE</a:t>
            </a:r>
          </a:p>
        </p:txBody>
      </p:sp>
      <p:sp>
        <p:nvSpPr>
          <p:cNvPr id="11" name="Rounded Rectangle 10"/>
          <p:cNvSpPr/>
          <p:nvPr/>
        </p:nvSpPr>
        <p:spPr>
          <a:xfrm>
            <a:off x="6172200" y="2240280"/>
            <a:ext cx="5440680" cy="173736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2404872"/>
            <a:ext cx="457200" cy="274320"/>
          </a:xfrm>
          <a:prstGeom prst="rect">
            <a:avLst/>
          </a:prstGeom>
          <a:noFill/>
        </p:spPr>
        <p:txBody>
          <a:bodyPr wrap="square" lIns="0" rIns="0" tIns="0" bIns="0">
            <a:spAutoFit/>
          </a:bodyPr>
          <a:lstStyle/>
          <a:p>
            <a:pPr algn="l">
              <a:lnSpc>
                <a:spcPct val="100000"/>
              </a:lnSpc>
            </a:pPr>
            <a:r>
              <a:rPr sz="1100" b="1" i="0">
                <a:solidFill>
                  <a:srgbClr val="F4BD72"/>
                </a:solidFill>
                <a:latin typeface="SF Mono"/>
              </a:rPr>
              <a:t>02</a:t>
            </a:r>
          </a:p>
        </p:txBody>
      </p:sp>
      <p:sp>
        <p:nvSpPr>
          <p:cNvPr id="13" name="TextBox 12"/>
          <p:cNvSpPr txBox="1"/>
          <p:nvPr/>
        </p:nvSpPr>
        <p:spPr>
          <a:xfrm>
            <a:off x="6885432" y="2423160"/>
            <a:ext cx="4389120" cy="228600"/>
          </a:xfrm>
          <a:prstGeom prst="rect">
            <a:avLst/>
          </a:prstGeom>
          <a:noFill/>
        </p:spPr>
        <p:txBody>
          <a:bodyPr wrap="square" lIns="0" rIns="0" tIns="0" bIns="0">
            <a:spAutoFit/>
          </a:bodyPr>
          <a:lstStyle/>
          <a:p>
            <a:pPr algn="l">
              <a:lnSpc>
                <a:spcPct val="100000"/>
              </a:lnSpc>
            </a:pPr>
            <a:r>
              <a:rPr sz="950" b="1" i="0">
                <a:solidFill>
                  <a:srgbClr val="EAF2F0"/>
                </a:solidFill>
                <a:latin typeface="SF Mono"/>
              </a:rPr>
              <a:t>DISCONNECTED DELIVERY</a:t>
            </a:r>
          </a:p>
        </p:txBody>
      </p:sp>
      <p:sp>
        <p:nvSpPr>
          <p:cNvPr id="14" name="TextBox 13"/>
          <p:cNvSpPr txBox="1"/>
          <p:nvPr/>
        </p:nvSpPr>
        <p:spPr>
          <a:xfrm>
            <a:off x="6373368" y="2807208"/>
            <a:ext cx="4983480" cy="731520"/>
          </a:xfrm>
          <a:prstGeom prst="rect">
            <a:avLst/>
          </a:prstGeom>
          <a:noFill/>
        </p:spPr>
        <p:txBody>
          <a:bodyPr wrap="square" lIns="0" rIns="0" tIns="0" bIns="0">
            <a:spAutoFit/>
          </a:bodyPr>
          <a:lstStyle/>
          <a:p>
            <a:pPr algn="l">
              <a:lnSpc>
                <a:spcPct val="115000"/>
              </a:lnSpc>
            </a:pPr>
            <a:r>
              <a:rPr sz="930" b="0" i="0">
                <a:solidFill>
                  <a:srgbClr val="8AA6A0"/>
                </a:solidFill>
                <a:latin typeface="Helvetica Neue"/>
              </a:rPr>
              <a:t>Programme, cost, safety and quality are tracked in separate systems with no shared spatial key.</a:t>
            </a:r>
          </a:p>
        </p:txBody>
      </p:sp>
      <p:sp>
        <p:nvSpPr>
          <p:cNvPr id="15" name="TextBox 14"/>
          <p:cNvSpPr txBox="1"/>
          <p:nvPr/>
        </p:nvSpPr>
        <p:spPr>
          <a:xfrm>
            <a:off x="6373368" y="3630168"/>
            <a:ext cx="4389120" cy="182880"/>
          </a:xfrm>
          <a:prstGeom prst="rect">
            <a:avLst/>
          </a:prstGeom>
          <a:noFill/>
        </p:spPr>
        <p:txBody>
          <a:bodyPr wrap="square" lIns="0" rIns="0" tIns="0" bIns="0">
            <a:spAutoFit/>
          </a:bodyPr>
          <a:lstStyle/>
          <a:p>
            <a:pPr algn="l">
              <a:lnSpc>
                <a:spcPct val="100000"/>
              </a:lnSpc>
            </a:pPr>
            <a:r>
              <a:rPr sz="680" b="1" i="0">
                <a:solidFill>
                  <a:srgbClr val="F4BD72"/>
                </a:solidFill>
                <a:latin typeface="SF Mono"/>
              </a:rPr>
              <a:t>4D · 5D · FIELD</a:t>
            </a:r>
          </a:p>
        </p:txBody>
      </p:sp>
      <p:sp>
        <p:nvSpPr>
          <p:cNvPr id="16" name="Rounded Rectangle 15"/>
          <p:cNvSpPr/>
          <p:nvPr/>
        </p:nvSpPr>
        <p:spPr>
          <a:xfrm>
            <a:off x="502920" y="4178808"/>
            <a:ext cx="5440680" cy="173736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4343400"/>
            <a:ext cx="457200" cy="274320"/>
          </a:xfrm>
          <a:prstGeom prst="rect">
            <a:avLst/>
          </a:prstGeom>
          <a:noFill/>
        </p:spPr>
        <p:txBody>
          <a:bodyPr wrap="square" lIns="0" rIns="0" tIns="0" bIns="0">
            <a:spAutoFit/>
          </a:bodyPr>
          <a:lstStyle/>
          <a:p>
            <a:pPr algn="l">
              <a:lnSpc>
                <a:spcPct val="100000"/>
              </a:lnSpc>
            </a:pPr>
            <a:r>
              <a:rPr sz="1100" b="1" i="0">
                <a:solidFill>
                  <a:srgbClr val="A991FF"/>
                </a:solidFill>
                <a:latin typeface="SF Mono"/>
              </a:rPr>
              <a:t>03</a:t>
            </a:r>
          </a:p>
        </p:txBody>
      </p:sp>
      <p:sp>
        <p:nvSpPr>
          <p:cNvPr id="18" name="TextBox 17"/>
          <p:cNvSpPr txBox="1"/>
          <p:nvPr/>
        </p:nvSpPr>
        <p:spPr>
          <a:xfrm>
            <a:off x="1216152" y="4361688"/>
            <a:ext cx="4389120" cy="228600"/>
          </a:xfrm>
          <a:prstGeom prst="rect">
            <a:avLst/>
          </a:prstGeom>
          <a:noFill/>
        </p:spPr>
        <p:txBody>
          <a:bodyPr wrap="square" lIns="0" rIns="0" tIns="0" bIns="0">
            <a:spAutoFit/>
          </a:bodyPr>
          <a:lstStyle/>
          <a:p>
            <a:pPr algn="l">
              <a:lnSpc>
                <a:spcPct val="100000"/>
              </a:lnSpc>
            </a:pPr>
            <a:r>
              <a:rPr sz="950" b="1" i="0">
                <a:solidFill>
                  <a:srgbClr val="EAF2F0"/>
                </a:solidFill>
                <a:latin typeface="SF Mono"/>
              </a:rPr>
              <a:t>OPERATIONS BLIND SPOTS</a:t>
            </a:r>
          </a:p>
        </p:txBody>
      </p:sp>
      <p:sp>
        <p:nvSpPr>
          <p:cNvPr id="19" name="TextBox 18"/>
          <p:cNvSpPr txBox="1"/>
          <p:nvPr/>
        </p:nvSpPr>
        <p:spPr>
          <a:xfrm>
            <a:off x="704088" y="4745736"/>
            <a:ext cx="4983480" cy="731520"/>
          </a:xfrm>
          <a:prstGeom prst="rect">
            <a:avLst/>
          </a:prstGeom>
          <a:noFill/>
        </p:spPr>
        <p:txBody>
          <a:bodyPr wrap="square" lIns="0" rIns="0" tIns="0" bIns="0">
            <a:spAutoFit/>
          </a:bodyPr>
          <a:lstStyle/>
          <a:p>
            <a:pPr algn="l">
              <a:lnSpc>
                <a:spcPct val="115000"/>
              </a:lnSpc>
            </a:pPr>
            <a:r>
              <a:rPr sz="930" b="0" i="0">
                <a:solidFill>
                  <a:srgbClr val="8AA6A0"/>
                </a:solidFill>
                <a:latin typeface="Helvetica Neue"/>
              </a:rPr>
              <a:t>Energy, access, occupancy, maintenance and tenant experience are reported after the fact.</a:t>
            </a:r>
          </a:p>
        </p:txBody>
      </p:sp>
      <p:sp>
        <p:nvSpPr>
          <p:cNvPr id="20" name="TextBox 19"/>
          <p:cNvSpPr txBox="1"/>
          <p:nvPr/>
        </p:nvSpPr>
        <p:spPr>
          <a:xfrm>
            <a:off x="704088" y="5568696"/>
            <a:ext cx="4389120" cy="182880"/>
          </a:xfrm>
          <a:prstGeom prst="rect">
            <a:avLst/>
          </a:prstGeom>
          <a:noFill/>
        </p:spPr>
        <p:txBody>
          <a:bodyPr wrap="square" lIns="0" rIns="0" tIns="0" bIns="0">
            <a:spAutoFit/>
          </a:bodyPr>
          <a:lstStyle/>
          <a:p>
            <a:pPr algn="l">
              <a:lnSpc>
                <a:spcPct val="100000"/>
              </a:lnSpc>
            </a:pPr>
            <a:r>
              <a:rPr sz="680" b="1" i="0">
                <a:solidFill>
                  <a:srgbClr val="A991FF"/>
                </a:solidFill>
                <a:latin typeface="SF Mono"/>
              </a:rPr>
              <a:t>IOT · BMS · CAFM</a:t>
            </a:r>
          </a:p>
        </p:txBody>
      </p:sp>
      <p:sp>
        <p:nvSpPr>
          <p:cNvPr id="21" name="Rounded Rectangle 20"/>
          <p:cNvSpPr/>
          <p:nvPr/>
        </p:nvSpPr>
        <p:spPr>
          <a:xfrm>
            <a:off x="6172200" y="4178808"/>
            <a:ext cx="5440680" cy="173736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4343400"/>
            <a:ext cx="457200" cy="274320"/>
          </a:xfrm>
          <a:prstGeom prst="rect">
            <a:avLst/>
          </a:prstGeom>
          <a:noFill/>
        </p:spPr>
        <p:txBody>
          <a:bodyPr wrap="square" lIns="0" rIns="0" tIns="0" bIns="0">
            <a:spAutoFit/>
          </a:bodyPr>
          <a:lstStyle/>
          <a:p>
            <a:pPr algn="l">
              <a:lnSpc>
                <a:spcPct val="100000"/>
              </a:lnSpc>
            </a:pPr>
            <a:r>
              <a:rPr sz="1100" b="1" i="0">
                <a:solidFill>
                  <a:srgbClr val="FF7088"/>
                </a:solidFill>
                <a:latin typeface="SF Mono"/>
              </a:rPr>
              <a:t>04</a:t>
            </a:r>
          </a:p>
        </p:txBody>
      </p:sp>
      <p:sp>
        <p:nvSpPr>
          <p:cNvPr id="23" name="TextBox 22"/>
          <p:cNvSpPr txBox="1"/>
          <p:nvPr/>
        </p:nvSpPr>
        <p:spPr>
          <a:xfrm>
            <a:off x="6885432" y="4361688"/>
            <a:ext cx="4389120" cy="228600"/>
          </a:xfrm>
          <a:prstGeom prst="rect">
            <a:avLst/>
          </a:prstGeom>
          <a:noFill/>
        </p:spPr>
        <p:txBody>
          <a:bodyPr wrap="square" lIns="0" rIns="0" tIns="0" bIns="0">
            <a:spAutoFit/>
          </a:bodyPr>
          <a:lstStyle/>
          <a:p>
            <a:pPr algn="l">
              <a:lnSpc>
                <a:spcPct val="100000"/>
              </a:lnSpc>
            </a:pPr>
            <a:r>
              <a:rPr sz="950" b="1" i="0">
                <a:solidFill>
                  <a:srgbClr val="EAF2F0"/>
                </a:solidFill>
                <a:latin typeface="SF Mono"/>
              </a:rPr>
              <a:t>AI WITHOUT GOVERNANCE</a:t>
            </a:r>
          </a:p>
        </p:txBody>
      </p:sp>
      <p:sp>
        <p:nvSpPr>
          <p:cNvPr id="24" name="TextBox 23"/>
          <p:cNvSpPr txBox="1"/>
          <p:nvPr/>
        </p:nvSpPr>
        <p:spPr>
          <a:xfrm>
            <a:off x="6373368" y="4745736"/>
            <a:ext cx="4983480" cy="731520"/>
          </a:xfrm>
          <a:prstGeom prst="rect">
            <a:avLst/>
          </a:prstGeom>
          <a:noFill/>
        </p:spPr>
        <p:txBody>
          <a:bodyPr wrap="square" lIns="0" rIns="0" tIns="0" bIns="0">
            <a:spAutoFit/>
          </a:bodyPr>
          <a:lstStyle/>
          <a:p>
            <a:pPr algn="l">
              <a:lnSpc>
                <a:spcPct val="115000"/>
              </a:lnSpc>
            </a:pPr>
            <a:r>
              <a:rPr sz="930" b="0" i="0">
                <a:solidFill>
                  <a:srgbClr val="8AA6A0"/>
                </a:solidFill>
                <a:latin typeface="Helvetica Neue"/>
              </a:rPr>
              <a:t>Agents produce plausible answers without evidence, audit trails or a human decision gate.</a:t>
            </a:r>
          </a:p>
        </p:txBody>
      </p:sp>
      <p:sp>
        <p:nvSpPr>
          <p:cNvPr id="25" name="TextBox 24"/>
          <p:cNvSpPr txBox="1"/>
          <p:nvPr/>
        </p:nvSpPr>
        <p:spPr>
          <a:xfrm>
            <a:off x="6373368" y="5568696"/>
            <a:ext cx="4389120" cy="182880"/>
          </a:xfrm>
          <a:prstGeom prst="rect">
            <a:avLst/>
          </a:prstGeom>
          <a:noFill/>
        </p:spPr>
        <p:txBody>
          <a:bodyPr wrap="square" lIns="0" rIns="0" tIns="0" bIns="0">
            <a:spAutoFit/>
          </a:bodyPr>
          <a:lstStyle/>
          <a:p>
            <a:pPr algn="l">
              <a:lnSpc>
                <a:spcPct val="100000"/>
              </a:lnSpc>
            </a:pPr>
            <a:r>
              <a:rPr sz="680" b="1" i="0">
                <a:solidFill>
                  <a:srgbClr val="FF7088"/>
                </a:solidFill>
                <a:latin typeface="SF Mono"/>
              </a:rPr>
              <a:t>AGENTS · LEDGER</a:t>
            </a:r>
          </a:p>
        </p:txBody>
      </p:sp>
      <p:sp>
        <p:nvSpPr>
          <p:cNvPr id="26" name="TextBox 25"/>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27" name="TextBox 26"/>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04  /  ARCHITECTURE</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700" b="1" i="0">
                <a:solidFill>
                  <a:srgbClr val="EAF2F0"/>
                </a:solidFill>
                <a:latin typeface="Helvetica Neue"/>
              </a:rPr>
              <a:t>A four-layer platform with one spatial index.</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1180" b="0" i="0">
                <a:solidFill>
                  <a:srgbClr val="8AA6A0"/>
                </a:solidFill>
                <a:latin typeface="Helvetica Neue"/>
              </a:rPr>
              <a:t>The experience, the 3D engine, the domain modules and the governed data layer are deliberately separated so a new asset or workflow can be added without rebuilding the shell.</a:t>
            </a:r>
          </a:p>
        </p:txBody>
      </p:sp>
      <p:sp>
        <p:nvSpPr>
          <p:cNvPr id="6" name="Rounded Rectangle 5"/>
          <p:cNvSpPr/>
          <p:nvPr/>
        </p:nvSpPr>
        <p:spPr>
          <a:xfrm>
            <a:off x="502920" y="2194560"/>
            <a:ext cx="7406640" cy="713232"/>
          </a:xfrm>
          <a:prstGeom prst="roundRect">
            <a:avLst>
              <a:gd name="adj" fmla="val 6000"/>
            </a:avLst>
          </a:prstGeom>
          <a:solidFill>
            <a:srgbClr val="0C171D"/>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2194560"/>
            <a:ext cx="64008" cy="713232"/>
          </a:xfrm>
          <a:prstGeom prst="rect">
            <a:avLst/>
          </a:prstGeom>
          <a:solidFill>
            <a:srgbClr val="76C9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304288"/>
            <a:ext cx="1920240" cy="182880"/>
          </a:xfrm>
          <a:prstGeom prst="rect">
            <a:avLst/>
          </a:prstGeom>
          <a:noFill/>
        </p:spPr>
        <p:txBody>
          <a:bodyPr wrap="square" lIns="0" rIns="0" tIns="0" bIns="0">
            <a:spAutoFit/>
          </a:bodyPr>
          <a:lstStyle/>
          <a:p>
            <a:pPr algn="l">
              <a:lnSpc>
                <a:spcPct val="100000"/>
              </a:lnSpc>
            </a:pPr>
            <a:r>
              <a:rPr sz="760" b="1" i="0">
                <a:solidFill>
                  <a:srgbClr val="76C9C9"/>
                </a:solidFill>
                <a:latin typeface="SF Mono"/>
              </a:rPr>
              <a:t>EXPERIENCE LAYER</a:t>
            </a:r>
          </a:p>
        </p:txBody>
      </p:sp>
      <p:sp>
        <p:nvSpPr>
          <p:cNvPr id="9" name="TextBox 8"/>
          <p:cNvSpPr txBox="1"/>
          <p:nvPr/>
        </p:nvSpPr>
        <p:spPr>
          <a:xfrm>
            <a:off x="2651760" y="2286000"/>
            <a:ext cx="5029200" cy="228600"/>
          </a:xfrm>
          <a:prstGeom prst="rect">
            <a:avLst/>
          </a:prstGeom>
          <a:noFill/>
        </p:spPr>
        <p:txBody>
          <a:bodyPr wrap="square" lIns="0" rIns="0" tIns="0" bIns="0">
            <a:spAutoFit/>
          </a:bodyPr>
          <a:lstStyle/>
          <a:p>
            <a:pPr algn="l">
              <a:lnSpc>
                <a:spcPct val="100000"/>
              </a:lnSpc>
            </a:pPr>
            <a:r>
              <a:rPr sz="919" b="1" i="0">
                <a:solidFill>
                  <a:srgbClr val="EAF2F0"/>
                </a:solidFill>
                <a:latin typeface="Helvetica Neue"/>
              </a:rPr>
              <a:t>React 19 · TypeScript · Vite 8 · Tailwind CSS v4</a:t>
            </a:r>
          </a:p>
        </p:txBody>
      </p:sp>
      <p:sp>
        <p:nvSpPr>
          <p:cNvPr id="10" name="TextBox 9"/>
          <p:cNvSpPr txBox="1"/>
          <p:nvPr/>
        </p:nvSpPr>
        <p:spPr>
          <a:xfrm>
            <a:off x="2651760" y="2560320"/>
            <a:ext cx="5029200" cy="274320"/>
          </a:xfrm>
          <a:prstGeom prst="rect">
            <a:avLst/>
          </a:prstGeom>
          <a:noFill/>
        </p:spPr>
        <p:txBody>
          <a:bodyPr wrap="square" lIns="0" rIns="0" tIns="0" bIns="0">
            <a:spAutoFit/>
          </a:bodyPr>
          <a:lstStyle/>
          <a:p>
            <a:pPr algn="l">
              <a:lnSpc>
                <a:spcPct val="100000"/>
              </a:lnSpc>
            </a:pPr>
            <a:r>
              <a:rPr sz="780" b="0" i="0">
                <a:solidFill>
                  <a:srgbClr val="8AA6A0"/>
                </a:solidFill>
                <a:latin typeface="Helvetica Neue"/>
              </a:rPr>
              <a:t>Command palette, 58 routes, dark/light theme, 8 languages, responsive layout</a:t>
            </a:r>
          </a:p>
        </p:txBody>
      </p:sp>
      <p:sp>
        <p:nvSpPr>
          <p:cNvPr id="11" name="Rounded Rectangle 10"/>
          <p:cNvSpPr/>
          <p:nvPr/>
        </p:nvSpPr>
        <p:spPr>
          <a:xfrm>
            <a:off x="502920" y="3063240"/>
            <a:ext cx="7406640" cy="713232"/>
          </a:xfrm>
          <a:prstGeom prst="roundRect">
            <a:avLst>
              <a:gd name="adj" fmla="val 6000"/>
            </a:avLst>
          </a:prstGeom>
          <a:solidFill>
            <a:srgbClr val="0C171D"/>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063240"/>
            <a:ext cx="64008" cy="713232"/>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72968"/>
            <a:ext cx="1920240" cy="182880"/>
          </a:xfrm>
          <a:prstGeom prst="rect">
            <a:avLst/>
          </a:prstGeom>
          <a:noFill/>
        </p:spPr>
        <p:txBody>
          <a:bodyPr wrap="square" lIns="0" rIns="0" tIns="0" bIns="0">
            <a:spAutoFit/>
          </a:bodyPr>
          <a:lstStyle/>
          <a:p>
            <a:pPr algn="l">
              <a:lnSpc>
                <a:spcPct val="100000"/>
              </a:lnSpc>
            </a:pPr>
            <a:r>
              <a:rPr sz="760" b="1" i="0">
                <a:solidFill>
                  <a:srgbClr val="53F0BE"/>
                </a:solidFill>
                <a:latin typeface="SF Mono"/>
              </a:rPr>
              <a:t>3D ENGINE</a:t>
            </a:r>
          </a:p>
        </p:txBody>
      </p:sp>
      <p:sp>
        <p:nvSpPr>
          <p:cNvPr id="14" name="TextBox 13"/>
          <p:cNvSpPr txBox="1"/>
          <p:nvPr/>
        </p:nvSpPr>
        <p:spPr>
          <a:xfrm>
            <a:off x="2651760" y="3154680"/>
            <a:ext cx="5029200" cy="228600"/>
          </a:xfrm>
          <a:prstGeom prst="rect">
            <a:avLst/>
          </a:prstGeom>
          <a:noFill/>
        </p:spPr>
        <p:txBody>
          <a:bodyPr wrap="square" lIns="0" rIns="0" tIns="0" bIns="0">
            <a:spAutoFit/>
          </a:bodyPr>
          <a:lstStyle/>
          <a:p>
            <a:pPr algn="l">
              <a:lnSpc>
                <a:spcPct val="100000"/>
              </a:lnSpc>
            </a:pPr>
            <a:r>
              <a:rPr sz="919" b="1" i="0">
                <a:solidFill>
                  <a:srgbClr val="EAF2F0"/>
                </a:solidFill>
                <a:latin typeface="Helvetica Neue"/>
              </a:rPr>
              <a:t>Three.js r186 · 55 scene graphs · shared ThreeStage</a:t>
            </a:r>
          </a:p>
        </p:txBody>
      </p:sp>
      <p:sp>
        <p:nvSpPr>
          <p:cNvPr id="15" name="TextBox 14"/>
          <p:cNvSpPr txBox="1"/>
          <p:nvPr/>
        </p:nvSpPr>
        <p:spPr>
          <a:xfrm>
            <a:off x="2651760" y="3429000"/>
            <a:ext cx="5029200" cy="274320"/>
          </a:xfrm>
          <a:prstGeom prst="rect">
            <a:avLst/>
          </a:prstGeom>
          <a:noFill/>
        </p:spPr>
        <p:txBody>
          <a:bodyPr wrap="square" lIns="0" rIns="0" tIns="0" bIns="0">
            <a:spAutoFit/>
          </a:bodyPr>
          <a:lstStyle/>
          <a:p>
            <a:pPr algn="l">
              <a:lnSpc>
                <a:spcPct val="100000"/>
              </a:lnSpc>
            </a:pPr>
            <a:r>
              <a:rPr sz="780" b="0" i="0">
                <a:solidFill>
                  <a:srgbClr val="8AA6A0"/>
                </a:solidFill>
                <a:latin typeface="Helvetica Neue"/>
              </a:rPr>
              <a:t>ACES tone mapping, IBL, PCF soft shadows, PBR materials, adaptive quality, GLTF vehicles</a:t>
            </a:r>
          </a:p>
        </p:txBody>
      </p:sp>
      <p:sp>
        <p:nvSpPr>
          <p:cNvPr id="16" name="Rounded Rectangle 15"/>
          <p:cNvSpPr/>
          <p:nvPr/>
        </p:nvSpPr>
        <p:spPr>
          <a:xfrm>
            <a:off x="502920" y="3931920"/>
            <a:ext cx="7406640" cy="713232"/>
          </a:xfrm>
          <a:prstGeom prst="roundRect">
            <a:avLst>
              <a:gd name="adj" fmla="val 6000"/>
            </a:avLst>
          </a:prstGeom>
          <a:solidFill>
            <a:srgbClr val="0C171D"/>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931920"/>
            <a:ext cx="64008" cy="713232"/>
          </a:xfrm>
          <a:prstGeom prst="rect">
            <a:avLst/>
          </a:prstGeom>
          <a:solidFill>
            <a:srgbClr val="A99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41648"/>
            <a:ext cx="1920240" cy="182880"/>
          </a:xfrm>
          <a:prstGeom prst="rect">
            <a:avLst/>
          </a:prstGeom>
          <a:noFill/>
        </p:spPr>
        <p:txBody>
          <a:bodyPr wrap="square" lIns="0" rIns="0" tIns="0" bIns="0">
            <a:spAutoFit/>
          </a:bodyPr>
          <a:lstStyle/>
          <a:p>
            <a:pPr algn="l">
              <a:lnSpc>
                <a:spcPct val="100000"/>
              </a:lnSpc>
            </a:pPr>
            <a:r>
              <a:rPr sz="760" b="1" i="0">
                <a:solidFill>
                  <a:srgbClr val="A991FF"/>
                </a:solidFill>
                <a:latin typeface="SF Mono"/>
              </a:rPr>
              <a:t>DOMAIN MODULES</a:t>
            </a:r>
          </a:p>
        </p:txBody>
      </p:sp>
      <p:sp>
        <p:nvSpPr>
          <p:cNvPr id="19" name="TextBox 18"/>
          <p:cNvSpPr txBox="1"/>
          <p:nvPr/>
        </p:nvSpPr>
        <p:spPr>
          <a:xfrm>
            <a:off x="2651760" y="4023359"/>
            <a:ext cx="5029200" cy="228600"/>
          </a:xfrm>
          <a:prstGeom prst="rect">
            <a:avLst/>
          </a:prstGeom>
          <a:noFill/>
        </p:spPr>
        <p:txBody>
          <a:bodyPr wrap="square" lIns="0" rIns="0" tIns="0" bIns="0">
            <a:spAutoFit/>
          </a:bodyPr>
          <a:lstStyle/>
          <a:p>
            <a:pPr algn="l">
              <a:lnSpc>
                <a:spcPct val="100000"/>
              </a:lnSpc>
            </a:pPr>
            <a:r>
              <a:rPr sz="919" b="1" i="0">
                <a:solidFill>
                  <a:srgbClr val="EAF2F0"/>
                </a:solidFill>
                <a:latin typeface="Helvetica Neue"/>
              </a:rPr>
              <a:t>Twin · BIM · Construction · Engineering · Mobility · Energy · PropTech · Capital</a:t>
            </a:r>
          </a:p>
        </p:txBody>
      </p:sp>
      <p:sp>
        <p:nvSpPr>
          <p:cNvPr id="20" name="TextBox 19"/>
          <p:cNvSpPr txBox="1"/>
          <p:nvPr/>
        </p:nvSpPr>
        <p:spPr>
          <a:xfrm>
            <a:off x="2651760" y="4297680"/>
            <a:ext cx="5029200" cy="274320"/>
          </a:xfrm>
          <a:prstGeom prst="rect">
            <a:avLst/>
          </a:prstGeom>
          <a:noFill/>
        </p:spPr>
        <p:txBody>
          <a:bodyPr wrap="square" lIns="0" rIns="0" tIns="0" bIns="0">
            <a:spAutoFit/>
          </a:bodyPr>
          <a:lstStyle/>
          <a:p>
            <a:pPr algn="l">
              <a:lnSpc>
                <a:spcPct val="100000"/>
              </a:lnSpc>
            </a:pPr>
            <a:r>
              <a:rPr sz="780" b="0" i="0">
                <a:solidFill>
                  <a:srgbClr val="8AA6A0"/>
                </a:solidFill>
                <a:latin typeface="Helvetica Neue"/>
              </a:rPr>
              <a:t>Each module is a route + data model + 3D scene + operating panel</a:t>
            </a:r>
          </a:p>
        </p:txBody>
      </p:sp>
      <p:sp>
        <p:nvSpPr>
          <p:cNvPr id="21" name="Rounded Rectangle 20"/>
          <p:cNvSpPr/>
          <p:nvPr/>
        </p:nvSpPr>
        <p:spPr>
          <a:xfrm>
            <a:off x="502920" y="4800600"/>
            <a:ext cx="7406640" cy="713232"/>
          </a:xfrm>
          <a:prstGeom prst="roundRect">
            <a:avLst>
              <a:gd name="adj" fmla="val 6000"/>
            </a:avLst>
          </a:prstGeom>
          <a:solidFill>
            <a:srgbClr val="0C171D"/>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4800600"/>
            <a:ext cx="64008" cy="713232"/>
          </a:xfrm>
          <a:prstGeom prst="rect">
            <a:avLst/>
          </a:prstGeom>
          <a:solidFill>
            <a:srgbClr val="F4B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910328"/>
            <a:ext cx="1920240" cy="182880"/>
          </a:xfrm>
          <a:prstGeom prst="rect">
            <a:avLst/>
          </a:prstGeom>
          <a:noFill/>
        </p:spPr>
        <p:txBody>
          <a:bodyPr wrap="square" lIns="0" rIns="0" tIns="0" bIns="0">
            <a:spAutoFit/>
          </a:bodyPr>
          <a:lstStyle/>
          <a:p>
            <a:pPr algn="l">
              <a:lnSpc>
                <a:spcPct val="100000"/>
              </a:lnSpc>
            </a:pPr>
            <a:r>
              <a:rPr sz="760" b="1" i="0">
                <a:solidFill>
                  <a:srgbClr val="F4BD72"/>
                </a:solidFill>
                <a:latin typeface="SF Mono"/>
              </a:rPr>
              <a:t>GOVERNED DATA</a:t>
            </a:r>
          </a:p>
        </p:txBody>
      </p:sp>
      <p:sp>
        <p:nvSpPr>
          <p:cNvPr id="24" name="TextBox 23"/>
          <p:cNvSpPr txBox="1"/>
          <p:nvPr/>
        </p:nvSpPr>
        <p:spPr>
          <a:xfrm>
            <a:off x="2651760" y="4892040"/>
            <a:ext cx="5029200" cy="228600"/>
          </a:xfrm>
          <a:prstGeom prst="rect">
            <a:avLst/>
          </a:prstGeom>
          <a:noFill/>
        </p:spPr>
        <p:txBody>
          <a:bodyPr wrap="square" lIns="0" rIns="0" tIns="0" bIns="0">
            <a:spAutoFit/>
          </a:bodyPr>
          <a:lstStyle/>
          <a:p>
            <a:pPr algn="l">
              <a:lnSpc>
                <a:spcPct val="100000"/>
              </a:lnSpc>
            </a:pPr>
            <a:r>
              <a:rPr sz="919" b="1" i="0">
                <a:solidFill>
                  <a:srgbClr val="EAF2F0"/>
                </a:solidFill>
                <a:latin typeface="Helvetica Neue"/>
              </a:rPr>
              <a:t>Event bus · Trust Ledger · agent council · human gates</a:t>
            </a:r>
          </a:p>
        </p:txBody>
      </p:sp>
      <p:sp>
        <p:nvSpPr>
          <p:cNvPr id="25" name="TextBox 24"/>
          <p:cNvSpPr txBox="1"/>
          <p:nvPr/>
        </p:nvSpPr>
        <p:spPr>
          <a:xfrm>
            <a:off x="2651760" y="5166360"/>
            <a:ext cx="5029200" cy="274320"/>
          </a:xfrm>
          <a:prstGeom prst="rect">
            <a:avLst/>
          </a:prstGeom>
          <a:noFill/>
        </p:spPr>
        <p:txBody>
          <a:bodyPr wrap="square" lIns="0" rIns="0" tIns="0" bIns="0">
            <a:spAutoFit/>
          </a:bodyPr>
          <a:lstStyle/>
          <a:p>
            <a:pPr algn="l">
              <a:lnSpc>
                <a:spcPct val="100000"/>
              </a:lnSpc>
            </a:pPr>
            <a:r>
              <a:rPr sz="780" b="0" i="0">
                <a:solidFill>
                  <a:srgbClr val="8AA6A0"/>
                </a:solidFill>
                <a:latin typeface="Helvetica Neue"/>
              </a:rPr>
              <a:t>Provenance, attestation, audit trail and illustrative live telemetry</a:t>
            </a:r>
          </a:p>
        </p:txBody>
      </p:sp>
      <p:sp>
        <p:nvSpPr>
          <p:cNvPr id="26" name="Rounded Rectangle 25"/>
          <p:cNvSpPr/>
          <p:nvPr/>
        </p:nvSpPr>
        <p:spPr>
          <a:xfrm>
            <a:off x="8183879" y="2194560"/>
            <a:ext cx="3502152" cy="3319272"/>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94192" y="2359152"/>
            <a:ext cx="3108960" cy="201168"/>
          </a:xfrm>
          <a:prstGeom prst="rect">
            <a:avLst/>
          </a:prstGeom>
          <a:noFill/>
        </p:spPr>
        <p:txBody>
          <a:bodyPr wrap="square" lIns="0" rIns="0" tIns="0" bIns="0">
            <a:spAutoFit/>
          </a:bodyPr>
          <a:lstStyle/>
          <a:p>
            <a:pPr algn="l">
              <a:lnSpc>
                <a:spcPct val="100000"/>
              </a:lnSpc>
            </a:pPr>
            <a:r>
              <a:rPr sz="720" b="1" i="0">
                <a:solidFill>
                  <a:srgbClr val="53F0BE"/>
                </a:solidFill>
                <a:latin typeface="SF Mono"/>
              </a:rPr>
              <a:t>DELIVERY MODEL</a:t>
            </a:r>
          </a:p>
        </p:txBody>
      </p:sp>
      <p:sp>
        <p:nvSpPr>
          <p:cNvPr id="28" name="TextBox 27"/>
          <p:cNvSpPr txBox="1"/>
          <p:nvPr/>
        </p:nvSpPr>
        <p:spPr>
          <a:xfrm>
            <a:off x="8394192" y="2697480"/>
            <a:ext cx="731520" cy="274320"/>
          </a:xfrm>
          <a:prstGeom prst="rect">
            <a:avLst/>
          </a:prstGeom>
          <a:noFill/>
        </p:spPr>
        <p:txBody>
          <a:bodyPr wrap="square" lIns="0" rIns="0" tIns="0" bIns="0">
            <a:spAutoFit/>
          </a:bodyPr>
          <a:lstStyle/>
          <a:p>
            <a:pPr algn="l">
              <a:lnSpc>
                <a:spcPct val="100000"/>
              </a:lnSpc>
            </a:pPr>
            <a:r>
              <a:rPr sz="1500" b="1" i="0">
                <a:solidFill>
                  <a:srgbClr val="EAF2F0"/>
                </a:solidFill>
                <a:latin typeface="Helvetica Neue"/>
              </a:rPr>
              <a:t>58</a:t>
            </a:r>
          </a:p>
        </p:txBody>
      </p:sp>
      <p:sp>
        <p:nvSpPr>
          <p:cNvPr id="29" name="TextBox 28"/>
          <p:cNvSpPr txBox="1"/>
          <p:nvPr/>
        </p:nvSpPr>
        <p:spPr>
          <a:xfrm>
            <a:off x="9144000" y="2752344"/>
            <a:ext cx="2286000" cy="182880"/>
          </a:xfrm>
          <a:prstGeom prst="rect">
            <a:avLst/>
          </a:prstGeom>
          <a:noFill/>
        </p:spPr>
        <p:txBody>
          <a:bodyPr wrap="square" lIns="0" rIns="0" tIns="0" bIns="0">
            <a:spAutoFit/>
          </a:bodyPr>
          <a:lstStyle/>
          <a:p>
            <a:pPr algn="l">
              <a:lnSpc>
                <a:spcPct val="100000"/>
              </a:lnSpc>
            </a:pPr>
            <a:r>
              <a:rPr sz="850" b="0" i="0">
                <a:solidFill>
                  <a:srgbClr val="8AA6A0"/>
                </a:solidFill>
                <a:latin typeface="SF Mono"/>
              </a:rPr>
              <a:t>routes</a:t>
            </a:r>
          </a:p>
        </p:txBody>
      </p:sp>
      <p:sp>
        <p:nvSpPr>
          <p:cNvPr id="30" name="TextBox 29"/>
          <p:cNvSpPr txBox="1"/>
          <p:nvPr/>
        </p:nvSpPr>
        <p:spPr>
          <a:xfrm>
            <a:off x="8394192" y="3200400"/>
            <a:ext cx="731520" cy="274320"/>
          </a:xfrm>
          <a:prstGeom prst="rect">
            <a:avLst/>
          </a:prstGeom>
          <a:noFill/>
        </p:spPr>
        <p:txBody>
          <a:bodyPr wrap="square" lIns="0" rIns="0" tIns="0" bIns="0">
            <a:spAutoFit/>
          </a:bodyPr>
          <a:lstStyle/>
          <a:p>
            <a:pPr algn="l">
              <a:lnSpc>
                <a:spcPct val="100000"/>
              </a:lnSpc>
            </a:pPr>
            <a:r>
              <a:rPr sz="1500" b="1" i="0">
                <a:solidFill>
                  <a:srgbClr val="EAF2F0"/>
                </a:solidFill>
                <a:latin typeface="Helvetica Neue"/>
              </a:rPr>
              <a:t>55</a:t>
            </a:r>
          </a:p>
        </p:txBody>
      </p:sp>
      <p:sp>
        <p:nvSpPr>
          <p:cNvPr id="31" name="TextBox 30"/>
          <p:cNvSpPr txBox="1"/>
          <p:nvPr/>
        </p:nvSpPr>
        <p:spPr>
          <a:xfrm>
            <a:off x="9144000" y="3255264"/>
            <a:ext cx="2286000" cy="182880"/>
          </a:xfrm>
          <a:prstGeom prst="rect">
            <a:avLst/>
          </a:prstGeom>
          <a:noFill/>
        </p:spPr>
        <p:txBody>
          <a:bodyPr wrap="square" lIns="0" rIns="0" tIns="0" bIns="0">
            <a:spAutoFit/>
          </a:bodyPr>
          <a:lstStyle/>
          <a:p>
            <a:pPr algn="l">
              <a:lnSpc>
                <a:spcPct val="100000"/>
              </a:lnSpc>
            </a:pPr>
            <a:r>
              <a:rPr sz="850" b="0" i="0">
                <a:solidFill>
                  <a:srgbClr val="8AA6A0"/>
                </a:solidFill>
                <a:latin typeface="SF Mono"/>
              </a:rPr>
              <a:t>3D scenes</a:t>
            </a:r>
          </a:p>
        </p:txBody>
      </p:sp>
      <p:sp>
        <p:nvSpPr>
          <p:cNvPr id="32" name="TextBox 31"/>
          <p:cNvSpPr txBox="1"/>
          <p:nvPr/>
        </p:nvSpPr>
        <p:spPr>
          <a:xfrm>
            <a:off x="8394192" y="3703320"/>
            <a:ext cx="731520" cy="274320"/>
          </a:xfrm>
          <a:prstGeom prst="rect">
            <a:avLst/>
          </a:prstGeom>
          <a:noFill/>
        </p:spPr>
        <p:txBody>
          <a:bodyPr wrap="square" lIns="0" rIns="0" tIns="0" bIns="0">
            <a:spAutoFit/>
          </a:bodyPr>
          <a:lstStyle/>
          <a:p>
            <a:pPr algn="l">
              <a:lnSpc>
                <a:spcPct val="100000"/>
              </a:lnSpc>
            </a:pPr>
            <a:r>
              <a:rPr sz="1500" b="1" i="0">
                <a:solidFill>
                  <a:srgbClr val="EAF2F0"/>
                </a:solidFill>
                <a:latin typeface="Helvetica Neue"/>
              </a:rPr>
              <a:t>116</a:t>
            </a:r>
          </a:p>
        </p:txBody>
      </p:sp>
      <p:sp>
        <p:nvSpPr>
          <p:cNvPr id="33" name="TextBox 32"/>
          <p:cNvSpPr txBox="1"/>
          <p:nvPr/>
        </p:nvSpPr>
        <p:spPr>
          <a:xfrm>
            <a:off x="9144000" y="3758184"/>
            <a:ext cx="2286000" cy="182880"/>
          </a:xfrm>
          <a:prstGeom prst="rect">
            <a:avLst/>
          </a:prstGeom>
          <a:noFill/>
        </p:spPr>
        <p:txBody>
          <a:bodyPr wrap="square" lIns="0" rIns="0" tIns="0" bIns="0">
            <a:spAutoFit/>
          </a:bodyPr>
          <a:lstStyle/>
          <a:p>
            <a:pPr algn="l">
              <a:lnSpc>
                <a:spcPct val="100000"/>
              </a:lnSpc>
            </a:pPr>
            <a:r>
              <a:rPr sz="850" b="0" i="0">
                <a:solidFill>
                  <a:srgbClr val="8AA6A0"/>
                </a:solidFill>
                <a:latin typeface="SF Mono"/>
              </a:rPr>
              <a:t>production checks</a:t>
            </a:r>
          </a:p>
        </p:txBody>
      </p:sp>
      <p:sp>
        <p:nvSpPr>
          <p:cNvPr id="34" name="TextBox 33"/>
          <p:cNvSpPr txBox="1"/>
          <p:nvPr/>
        </p:nvSpPr>
        <p:spPr>
          <a:xfrm>
            <a:off x="8394192" y="4206240"/>
            <a:ext cx="731520" cy="274320"/>
          </a:xfrm>
          <a:prstGeom prst="rect">
            <a:avLst/>
          </a:prstGeom>
          <a:noFill/>
        </p:spPr>
        <p:txBody>
          <a:bodyPr wrap="square" lIns="0" rIns="0" tIns="0" bIns="0">
            <a:spAutoFit/>
          </a:bodyPr>
          <a:lstStyle/>
          <a:p>
            <a:pPr algn="l">
              <a:lnSpc>
                <a:spcPct val="100000"/>
              </a:lnSpc>
            </a:pPr>
            <a:r>
              <a:rPr sz="1500" b="1" i="0">
                <a:solidFill>
                  <a:srgbClr val="EAF2F0"/>
                </a:solidFill>
                <a:latin typeface="Helvetica Neue"/>
              </a:rPr>
              <a:t>8</a:t>
            </a:r>
          </a:p>
        </p:txBody>
      </p:sp>
      <p:sp>
        <p:nvSpPr>
          <p:cNvPr id="35" name="TextBox 34"/>
          <p:cNvSpPr txBox="1"/>
          <p:nvPr/>
        </p:nvSpPr>
        <p:spPr>
          <a:xfrm>
            <a:off x="9144000" y="4261104"/>
            <a:ext cx="2286000" cy="182880"/>
          </a:xfrm>
          <a:prstGeom prst="rect">
            <a:avLst/>
          </a:prstGeom>
          <a:noFill/>
        </p:spPr>
        <p:txBody>
          <a:bodyPr wrap="square" lIns="0" rIns="0" tIns="0" bIns="0">
            <a:spAutoFit/>
          </a:bodyPr>
          <a:lstStyle/>
          <a:p>
            <a:pPr algn="l">
              <a:lnSpc>
                <a:spcPct val="100000"/>
              </a:lnSpc>
            </a:pPr>
            <a:r>
              <a:rPr sz="850" b="0" i="0">
                <a:solidFill>
                  <a:srgbClr val="8AA6A0"/>
                </a:solidFill>
                <a:latin typeface="SF Mono"/>
              </a:rPr>
              <a:t>languages</a:t>
            </a:r>
          </a:p>
        </p:txBody>
      </p:sp>
      <p:sp>
        <p:nvSpPr>
          <p:cNvPr id="36" name="TextBox 35"/>
          <p:cNvSpPr txBox="1"/>
          <p:nvPr/>
        </p:nvSpPr>
        <p:spPr>
          <a:xfrm>
            <a:off x="8394192" y="4709160"/>
            <a:ext cx="731520" cy="274320"/>
          </a:xfrm>
          <a:prstGeom prst="rect">
            <a:avLst/>
          </a:prstGeom>
          <a:noFill/>
        </p:spPr>
        <p:txBody>
          <a:bodyPr wrap="square" lIns="0" rIns="0" tIns="0" bIns="0">
            <a:spAutoFit/>
          </a:bodyPr>
          <a:lstStyle/>
          <a:p>
            <a:pPr algn="l">
              <a:lnSpc>
                <a:spcPct val="100000"/>
              </a:lnSpc>
            </a:pPr>
            <a:r>
              <a:rPr sz="1500" b="1" i="0">
                <a:solidFill>
                  <a:srgbClr val="EAF2F0"/>
                </a:solidFill>
                <a:latin typeface="Helvetica Neue"/>
              </a:rPr>
              <a:t>1</a:t>
            </a:r>
          </a:p>
        </p:txBody>
      </p:sp>
      <p:sp>
        <p:nvSpPr>
          <p:cNvPr id="37" name="TextBox 36"/>
          <p:cNvSpPr txBox="1"/>
          <p:nvPr/>
        </p:nvSpPr>
        <p:spPr>
          <a:xfrm>
            <a:off x="9144000" y="4764024"/>
            <a:ext cx="2286000" cy="182880"/>
          </a:xfrm>
          <a:prstGeom prst="rect">
            <a:avLst/>
          </a:prstGeom>
          <a:noFill/>
        </p:spPr>
        <p:txBody>
          <a:bodyPr wrap="square" lIns="0" rIns="0" tIns="0" bIns="0">
            <a:spAutoFit/>
          </a:bodyPr>
          <a:lstStyle/>
          <a:p>
            <a:pPr algn="l">
              <a:lnSpc>
                <a:spcPct val="100000"/>
              </a:lnSpc>
            </a:pPr>
            <a:r>
              <a:rPr sz="850" b="0" i="0">
                <a:solidFill>
                  <a:srgbClr val="8AA6A0"/>
                </a:solidFill>
                <a:latin typeface="SF Mono"/>
              </a:rPr>
              <a:t>shared shell</a:t>
            </a:r>
          </a:p>
        </p:txBody>
      </p:sp>
      <p:sp>
        <p:nvSpPr>
          <p:cNvPr id="38" name="TextBox 37"/>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39" name="TextBox 38"/>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05  /  MODULE MAP</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700" b="1" i="0">
                <a:solidFill>
                  <a:srgbClr val="EAF2F0"/>
                </a:solidFill>
                <a:latin typeface="Helvetica Neue"/>
              </a:rPr>
              <a:t>Fifty-eight routes, grouped around the COO’s day.</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1180" b="0" i="0">
                <a:solidFill>
                  <a:srgbClr val="8AA6A0"/>
                </a:solidFill>
                <a:latin typeface="Helvetica Neue"/>
              </a:rPr>
              <a:t>The navigation is organised by decision domain rather than by software vendor. The 3D scene is the spatial index; the panels are the working detail.</a:t>
            </a:r>
          </a:p>
        </p:txBody>
      </p:sp>
      <p:sp>
        <p:nvSpPr>
          <p:cNvPr id="6" name="Rounded Rectangle 5"/>
          <p:cNvSpPr/>
          <p:nvPr/>
        </p:nvSpPr>
        <p:spPr>
          <a:xfrm>
            <a:off x="502920" y="2176272"/>
            <a:ext cx="3639312" cy="1572768"/>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340864"/>
            <a:ext cx="2377440" cy="182880"/>
          </a:xfrm>
          <a:prstGeom prst="rect">
            <a:avLst/>
          </a:prstGeom>
          <a:noFill/>
        </p:spPr>
        <p:txBody>
          <a:bodyPr wrap="square" lIns="0" rIns="0" tIns="0" bIns="0">
            <a:spAutoFit/>
          </a:bodyPr>
          <a:lstStyle/>
          <a:p>
            <a:pPr algn="l">
              <a:lnSpc>
                <a:spcPct val="100000"/>
              </a:lnSpc>
            </a:pPr>
            <a:r>
              <a:rPr sz="840" b="1" i="0">
                <a:solidFill>
                  <a:srgbClr val="76C9C9"/>
                </a:solidFill>
                <a:latin typeface="SF Mono"/>
              </a:rPr>
              <a:t>COMMAND</a:t>
            </a:r>
          </a:p>
        </p:txBody>
      </p:sp>
      <p:sp>
        <p:nvSpPr>
          <p:cNvPr id="8" name="TextBox 7"/>
          <p:cNvSpPr txBox="1"/>
          <p:nvPr/>
        </p:nvSpPr>
        <p:spPr>
          <a:xfrm>
            <a:off x="3657600" y="2313432"/>
            <a:ext cx="320040" cy="228600"/>
          </a:xfrm>
          <a:prstGeom prst="rect">
            <a:avLst/>
          </a:prstGeom>
          <a:noFill/>
        </p:spPr>
        <p:txBody>
          <a:bodyPr wrap="square" lIns="0" rIns="0" tIns="0" bIns="0">
            <a:spAutoFit/>
          </a:bodyPr>
          <a:lstStyle/>
          <a:p>
            <a:pPr algn="l">
              <a:lnSpc>
                <a:spcPct val="100000"/>
              </a:lnSpc>
            </a:pPr>
            <a:r>
              <a:rPr sz="1400" b="1" i="0">
                <a:solidFill>
                  <a:srgbClr val="EAF2F0"/>
                </a:solidFill>
                <a:latin typeface="Helvetica Neue"/>
              </a:rPr>
              <a:t>10</a:t>
            </a:r>
          </a:p>
        </p:txBody>
      </p:sp>
      <p:sp>
        <p:nvSpPr>
          <p:cNvPr id="9" name="TextBox 8"/>
          <p:cNvSpPr txBox="1"/>
          <p:nvPr/>
        </p:nvSpPr>
        <p:spPr>
          <a:xfrm>
            <a:off x="685800" y="2679191"/>
            <a:ext cx="3246120" cy="868680"/>
          </a:xfrm>
          <a:prstGeom prst="rect">
            <a:avLst/>
          </a:prstGeom>
          <a:noFill/>
        </p:spPr>
        <p:txBody>
          <a:bodyPr wrap="square" lIns="0" rIns="0" tIns="0" bIns="0">
            <a:spAutoFit/>
          </a:bodyPr>
          <a:lstStyle/>
          <a:p>
            <a:pPr algn="l">
              <a:lnSpc>
                <a:spcPct val="114000"/>
              </a:lnSpc>
            </a:pPr>
            <a:r>
              <a:rPr sz="840" b="0" i="0">
                <a:solidFill>
                  <a:srgbClr val="8AA6A0"/>
                </a:solidFill>
                <a:latin typeface="Helvetica Neue"/>
              </a:rPr>
              <a:t>Twin · Geospatial · Mobility · Traffic · EV · Resilience · Public realm · Heritage</a:t>
            </a:r>
          </a:p>
        </p:txBody>
      </p:sp>
      <p:sp>
        <p:nvSpPr>
          <p:cNvPr id="10" name="TextBox 9"/>
          <p:cNvSpPr txBox="1"/>
          <p:nvPr/>
        </p:nvSpPr>
        <p:spPr>
          <a:xfrm>
            <a:off x="685800" y="3474720"/>
            <a:ext cx="3108960" cy="182880"/>
          </a:xfrm>
          <a:prstGeom prst="rect">
            <a:avLst/>
          </a:prstGeom>
          <a:noFill/>
        </p:spPr>
        <p:txBody>
          <a:bodyPr wrap="square" lIns="0" rIns="0" tIns="0" bIns="0">
            <a:spAutoFit/>
          </a:bodyPr>
          <a:lstStyle/>
          <a:p>
            <a:pPr algn="l">
              <a:lnSpc>
                <a:spcPct val="100000"/>
              </a:lnSpc>
            </a:pPr>
            <a:r>
              <a:rPr sz="640" b="1" i="0">
                <a:solidFill>
                  <a:srgbClr val="5F7875"/>
                </a:solidFill>
                <a:latin typeface="SF Mono"/>
              </a:rPr>
              <a:t>DOMAIN MODULES</a:t>
            </a:r>
          </a:p>
        </p:txBody>
      </p:sp>
      <p:sp>
        <p:nvSpPr>
          <p:cNvPr id="11" name="Rounded Rectangle 10"/>
          <p:cNvSpPr/>
          <p:nvPr/>
        </p:nvSpPr>
        <p:spPr>
          <a:xfrm>
            <a:off x="4306824" y="2176272"/>
            <a:ext cx="3639312" cy="1572768"/>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9704" y="2340864"/>
            <a:ext cx="2377440" cy="182880"/>
          </a:xfrm>
          <a:prstGeom prst="rect">
            <a:avLst/>
          </a:prstGeom>
          <a:noFill/>
        </p:spPr>
        <p:txBody>
          <a:bodyPr wrap="square" lIns="0" rIns="0" tIns="0" bIns="0">
            <a:spAutoFit/>
          </a:bodyPr>
          <a:lstStyle/>
          <a:p>
            <a:pPr algn="l">
              <a:lnSpc>
                <a:spcPct val="100000"/>
              </a:lnSpc>
            </a:pPr>
            <a:r>
              <a:rPr sz="840" b="1" i="0">
                <a:solidFill>
                  <a:srgbClr val="53F0BE"/>
                </a:solidFill>
                <a:latin typeface="SF Mono"/>
              </a:rPr>
              <a:t>BUILD &amp; OPERATE</a:t>
            </a:r>
          </a:p>
        </p:txBody>
      </p:sp>
      <p:sp>
        <p:nvSpPr>
          <p:cNvPr id="13" name="TextBox 12"/>
          <p:cNvSpPr txBox="1"/>
          <p:nvPr/>
        </p:nvSpPr>
        <p:spPr>
          <a:xfrm>
            <a:off x="7461504" y="2313432"/>
            <a:ext cx="320040" cy="228600"/>
          </a:xfrm>
          <a:prstGeom prst="rect">
            <a:avLst/>
          </a:prstGeom>
          <a:noFill/>
        </p:spPr>
        <p:txBody>
          <a:bodyPr wrap="square" lIns="0" rIns="0" tIns="0" bIns="0">
            <a:spAutoFit/>
          </a:bodyPr>
          <a:lstStyle/>
          <a:p>
            <a:pPr algn="l">
              <a:lnSpc>
                <a:spcPct val="100000"/>
              </a:lnSpc>
            </a:pPr>
            <a:r>
              <a:rPr sz="1400" b="1" i="0">
                <a:solidFill>
                  <a:srgbClr val="EAF2F0"/>
                </a:solidFill>
                <a:latin typeface="Helvetica Neue"/>
              </a:rPr>
              <a:t>25</a:t>
            </a:r>
          </a:p>
        </p:txBody>
      </p:sp>
      <p:sp>
        <p:nvSpPr>
          <p:cNvPr id="14" name="TextBox 13"/>
          <p:cNvSpPr txBox="1"/>
          <p:nvPr/>
        </p:nvSpPr>
        <p:spPr>
          <a:xfrm>
            <a:off x="4489704" y="2679191"/>
            <a:ext cx="3246120" cy="868680"/>
          </a:xfrm>
          <a:prstGeom prst="rect">
            <a:avLst/>
          </a:prstGeom>
          <a:noFill/>
        </p:spPr>
        <p:txBody>
          <a:bodyPr wrap="square" lIns="0" rIns="0" tIns="0" bIns="0">
            <a:spAutoFit/>
          </a:bodyPr>
          <a:lstStyle/>
          <a:p>
            <a:pPr algn="l">
              <a:lnSpc>
                <a:spcPct val="114000"/>
              </a:lnSpc>
            </a:pPr>
            <a:r>
              <a:rPr sz="840" b="0" i="0">
                <a:solidFill>
                  <a:srgbClr val="8AA6A0"/>
                </a:solidFill>
                <a:latin typeface="Helvetica Neue"/>
              </a:rPr>
              <a:t>Construction · Fleet · Commissioning · Quality · Utilities · Safety · Fire · Supply · Procurement · BIM trio</a:t>
            </a:r>
          </a:p>
        </p:txBody>
      </p:sp>
      <p:sp>
        <p:nvSpPr>
          <p:cNvPr id="15" name="TextBox 14"/>
          <p:cNvSpPr txBox="1"/>
          <p:nvPr/>
        </p:nvSpPr>
        <p:spPr>
          <a:xfrm>
            <a:off x="4489704" y="3474720"/>
            <a:ext cx="3108960" cy="182880"/>
          </a:xfrm>
          <a:prstGeom prst="rect">
            <a:avLst/>
          </a:prstGeom>
          <a:noFill/>
        </p:spPr>
        <p:txBody>
          <a:bodyPr wrap="square" lIns="0" rIns="0" tIns="0" bIns="0">
            <a:spAutoFit/>
          </a:bodyPr>
          <a:lstStyle/>
          <a:p>
            <a:pPr algn="l">
              <a:lnSpc>
                <a:spcPct val="100000"/>
              </a:lnSpc>
            </a:pPr>
            <a:r>
              <a:rPr sz="640" b="1" i="0">
                <a:solidFill>
                  <a:srgbClr val="5F7875"/>
                </a:solidFill>
                <a:latin typeface="SF Mono"/>
              </a:rPr>
              <a:t>DOMAIN MODULES</a:t>
            </a:r>
          </a:p>
        </p:txBody>
      </p:sp>
      <p:sp>
        <p:nvSpPr>
          <p:cNvPr id="16" name="Rounded Rectangle 15"/>
          <p:cNvSpPr/>
          <p:nvPr/>
        </p:nvSpPr>
        <p:spPr>
          <a:xfrm>
            <a:off x="8110728" y="2176272"/>
            <a:ext cx="3639312" cy="1572768"/>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2340864"/>
            <a:ext cx="2377440" cy="182880"/>
          </a:xfrm>
          <a:prstGeom prst="rect">
            <a:avLst/>
          </a:prstGeom>
          <a:noFill/>
        </p:spPr>
        <p:txBody>
          <a:bodyPr wrap="square" lIns="0" rIns="0" tIns="0" bIns="0">
            <a:spAutoFit/>
          </a:bodyPr>
          <a:lstStyle/>
          <a:p>
            <a:pPr algn="l">
              <a:lnSpc>
                <a:spcPct val="100000"/>
              </a:lnSpc>
            </a:pPr>
            <a:r>
              <a:rPr sz="840" b="1" i="0">
                <a:solidFill>
                  <a:srgbClr val="A991FF"/>
                </a:solidFill>
                <a:latin typeface="SF Mono"/>
              </a:rPr>
              <a:t>INTELLIGENCE</a:t>
            </a:r>
          </a:p>
        </p:txBody>
      </p:sp>
      <p:sp>
        <p:nvSpPr>
          <p:cNvPr id="18" name="TextBox 17"/>
          <p:cNvSpPr txBox="1"/>
          <p:nvPr/>
        </p:nvSpPr>
        <p:spPr>
          <a:xfrm>
            <a:off x="11265408" y="2313432"/>
            <a:ext cx="320040" cy="228600"/>
          </a:xfrm>
          <a:prstGeom prst="rect">
            <a:avLst/>
          </a:prstGeom>
          <a:noFill/>
        </p:spPr>
        <p:txBody>
          <a:bodyPr wrap="square" lIns="0" rIns="0" tIns="0" bIns="0">
            <a:spAutoFit/>
          </a:bodyPr>
          <a:lstStyle/>
          <a:p>
            <a:pPr algn="l">
              <a:lnSpc>
                <a:spcPct val="100000"/>
              </a:lnSpc>
            </a:pPr>
            <a:r>
              <a:rPr sz="1400" b="1" i="0">
                <a:solidFill>
                  <a:srgbClr val="EAF2F0"/>
                </a:solidFill>
                <a:latin typeface="Helvetica Neue"/>
              </a:rPr>
              <a:t>7</a:t>
            </a:r>
          </a:p>
        </p:txBody>
      </p:sp>
      <p:sp>
        <p:nvSpPr>
          <p:cNvPr id="19" name="TextBox 18"/>
          <p:cNvSpPr txBox="1"/>
          <p:nvPr/>
        </p:nvSpPr>
        <p:spPr>
          <a:xfrm>
            <a:off x="8293608" y="2679191"/>
            <a:ext cx="3246120" cy="868680"/>
          </a:xfrm>
          <a:prstGeom prst="rect">
            <a:avLst/>
          </a:prstGeom>
          <a:noFill/>
        </p:spPr>
        <p:txBody>
          <a:bodyPr wrap="square" lIns="0" rIns="0" tIns="0" bIns="0">
            <a:spAutoFit/>
          </a:bodyPr>
          <a:lstStyle/>
          <a:p>
            <a:pPr algn="l">
              <a:lnSpc>
                <a:spcPct val="114000"/>
              </a:lnSpc>
            </a:pPr>
            <a:r>
              <a:rPr sz="840" b="0" i="0">
                <a:solidFill>
                  <a:srgbClr val="8AA6A0"/>
                </a:solidFill>
                <a:latin typeface="Helvetica Neue"/>
              </a:rPr>
              <a:t>Data &amp; AI governance · Trust ledger · Cyber · Agents · War room · Intelligence</a:t>
            </a:r>
          </a:p>
        </p:txBody>
      </p:sp>
      <p:sp>
        <p:nvSpPr>
          <p:cNvPr id="20" name="TextBox 19"/>
          <p:cNvSpPr txBox="1"/>
          <p:nvPr/>
        </p:nvSpPr>
        <p:spPr>
          <a:xfrm>
            <a:off x="8293608" y="3474720"/>
            <a:ext cx="3108960" cy="182880"/>
          </a:xfrm>
          <a:prstGeom prst="rect">
            <a:avLst/>
          </a:prstGeom>
          <a:noFill/>
        </p:spPr>
        <p:txBody>
          <a:bodyPr wrap="square" lIns="0" rIns="0" tIns="0" bIns="0">
            <a:spAutoFit/>
          </a:bodyPr>
          <a:lstStyle/>
          <a:p>
            <a:pPr algn="l">
              <a:lnSpc>
                <a:spcPct val="100000"/>
              </a:lnSpc>
            </a:pPr>
            <a:r>
              <a:rPr sz="640" b="1" i="0">
                <a:solidFill>
                  <a:srgbClr val="5F7875"/>
                </a:solidFill>
                <a:latin typeface="SF Mono"/>
              </a:rPr>
              <a:t>DOMAIN MODULES</a:t>
            </a:r>
          </a:p>
        </p:txBody>
      </p:sp>
      <p:sp>
        <p:nvSpPr>
          <p:cNvPr id="21" name="Rounded Rectangle 20"/>
          <p:cNvSpPr/>
          <p:nvPr/>
        </p:nvSpPr>
        <p:spPr>
          <a:xfrm>
            <a:off x="502920" y="3959352"/>
            <a:ext cx="3639312" cy="1572768"/>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123944"/>
            <a:ext cx="2377440" cy="182880"/>
          </a:xfrm>
          <a:prstGeom prst="rect">
            <a:avLst/>
          </a:prstGeom>
          <a:noFill/>
        </p:spPr>
        <p:txBody>
          <a:bodyPr wrap="square" lIns="0" rIns="0" tIns="0" bIns="0">
            <a:spAutoFit/>
          </a:bodyPr>
          <a:lstStyle/>
          <a:p>
            <a:pPr algn="l">
              <a:lnSpc>
                <a:spcPct val="100000"/>
              </a:lnSpc>
            </a:pPr>
            <a:r>
              <a:rPr sz="840" b="1" i="0">
                <a:solidFill>
                  <a:srgbClr val="F4BD72"/>
                </a:solidFill>
                <a:latin typeface="SF Mono"/>
              </a:rPr>
              <a:t>ASSETS &amp; CAPITAL</a:t>
            </a:r>
          </a:p>
        </p:txBody>
      </p:sp>
      <p:sp>
        <p:nvSpPr>
          <p:cNvPr id="23" name="TextBox 22"/>
          <p:cNvSpPr txBox="1"/>
          <p:nvPr/>
        </p:nvSpPr>
        <p:spPr>
          <a:xfrm>
            <a:off x="3657600" y="4096512"/>
            <a:ext cx="320040" cy="228600"/>
          </a:xfrm>
          <a:prstGeom prst="rect">
            <a:avLst/>
          </a:prstGeom>
          <a:noFill/>
        </p:spPr>
        <p:txBody>
          <a:bodyPr wrap="square" lIns="0" rIns="0" tIns="0" bIns="0">
            <a:spAutoFit/>
          </a:bodyPr>
          <a:lstStyle/>
          <a:p>
            <a:pPr algn="l">
              <a:lnSpc>
                <a:spcPct val="100000"/>
              </a:lnSpc>
            </a:pPr>
            <a:r>
              <a:rPr sz="1400" b="1" i="0">
                <a:solidFill>
                  <a:srgbClr val="EAF2F0"/>
                </a:solidFill>
                <a:latin typeface="Helvetica Neue"/>
              </a:rPr>
              <a:t>8</a:t>
            </a:r>
          </a:p>
        </p:txBody>
      </p:sp>
      <p:sp>
        <p:nvSpPr>
          <p:cNvPr id="24" name="TextBox 23"/>
          <p:cNvSpPr txBox="1"/>
          <p:nvPr/>
        </p:nvSpPr>
        <p:spPr>
          <a:xfrm>
            <a:off x="685800" y="4462272"/>
            <a:ext cx="3246120" cy="868680"/>
          </a:xfrm>
          <a:prstGeom prst="rect">
            <a:avLst/>
          </a:prstGeom>
          <a:noFill/>
        </p:spPr>
        <p:txBody>
          <a:bodyPr wrap="square" lIns="0" rIns="0" tIns="0" bIns="0">
            <a:spAutoFit/>
          </a:bodyPr>
          <a:lstStyle/>
          <a:p>
            <a:pPr algn="l">
              <a:lnSpc>
                <a:spcPct val="114000"/>
              </a:lnSpc>
            </a:pPr>
            <a:r>
              <a:rPr sz="840" b="0" i="0">
                <a:solidFill>
                  <a:srgbClr val="8AA6A0"/>
                </a:solidFill>
                <a:latin typeface="Helvetica Neue"/>
              </a:rPr>
              <a:t>Portfolio · Assets · Capital · Deals · Insurance · Contracts · Labs</a:t>
            </a:r>
          </a:p>
        </p:txBody>
      </p:sp>
      <p:sp>
        <p:nvSpPr>
          <p:cNvPr id="25" name="TextBox 24"/>
          <p:cNvSpPr txBox="1"/>
          <p:nvPr/>
        </p:nvSpPr>
        <p:spPr>
          <a:xfrm>
            <a:off x="685800" y="5257800"/>
            <a:ext cx="3108960" cy="182880"/>
          </a:xfrm>
          <a:prstGeom prst="rect">
            <a:avLst/>
          </a:prstGeom>
          <a:noFill/>
        </p:spPr>
        <p:txBody>
          <a:bodyPr wrap="square" lIns="0" rIns="0" tIns="0" bIns="0">
            <a:spAutoFit/>
          </a:bodyPr>
          <a:lstStyle/>
          <a:p>
            <a:pPr algn="l">
              <a:lnSpc>
                <a:spcPct val="100000"/>
              </a:lnSpc>
            </a:pPr>
            <a:r>
              <a:rPr sz="640" b="1" i="0">
                <a:solidFill>
                  <a:srgbClr val="5F7875"/>
                </a:solidFill>
                <a:latin typeface="SF Mono"/>
              </a:rPr>
              <a:t>DOMAIN MODULES</a:t>
            </a:r>
          </a:p>
        </p:txBody>
      </p:sp>
      <p:sp>
        <p:nvSpPr>
          <p:cNvPr id="26" name="Rounded Rectangle 25"/>
          <p:cNvSpPr/>
          <p:nvPr/>
        </p:nvSpPr>
        <p:spPr>
          <a:xfrm>
            <a:off x="4306824" y="3959352"/>
            <a:ext cx="3639312" cy="1572768"/>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9704" y="4123944"/>
            <a:ext cx="2377440" cy="182880"/>
          </a:xfrm>
          <a:prstGeom prst="rect">
            <a:avLst/>
          </a:prstGeom>
          <a:noFill/>
        </p:spPr>
        <p:txBody>
          <a:bodyPr wrap="square" lIns="0" rIns="0" tIns="0" bIns="0">
            <a:spAutoFit/>
          </a:bodyPr>
          <a:lstStyle/>
          <a:p>
            <a:pPr algn="l">
              <a:lnSpc>
                <a:spcPct val="100000"/>
              </a:lnSpc>
            </a:pPr>
            <a:r>
              <a:rPr sz="840" b="1" i="0">
                <a:solidFill>
                  <a:srgbClr val="FF7088"/>
                </a:solidFill>
                <a:latin typeface="SF Mono"/>
              </a:rPr>
              <a:t>EXPERIENCE</a:t>
            </a:r>
          </a:p>
        </p:txBody>
      </p:sp>
      <p:sp>
        <p:nvSpPr>
          <p:cNvPr id="28" name="TextBox 27"/>
          <p:cNvSpPr txBox="1"/>
          <p:nvPr/>
        </p:nvSpPr>
        <p:spPr>
          <a:xfrm>
            <a:off x="7461504" y="4096512"/>
            <a:ext cx="320040" cy="228600"/>
          </a:xfrm>
          <a:prstGeom prst="rect">
            <a:avLst/>
          </a:prstGeom>
          <a:noFill/>
        </p:spPr>
        <p:txBody>
          <a:bodyPr wrap="square" lIns="0" rIns="0" tIns="0" bIns="0">
            <a:spAutoFit/>
          </a:bodyPr>
          <a:lstStyle/>
          <a:p>
            <a:pPr algn="l">
              <a:lnSpc>
                <a:spcPct val="100000"/>
              </a:lnSpc>
            </a:pPr>
            <a:r>
              <a:rPr sz="1400" b="1" i="0">
                <a:solidFill>
                  <a:srgbClr val="EAF2F0"/>
                </a:solidFill>
                <a:latin typeface="Helvetica Neue"/>
              </a:rPr>
              <a:t>8</a:t>
            </a:r>
          </a:p>
        </p:txBody>
      </p:sp>
      <p:sp>
        <p:nvSpPr>
          <p:cNvPr id="29" name="TextBox 28"/>
          <p:cNvSpPr txBox="1"/>
          <p:nvPr/>
        </p:nvSpPr>
        <p:spPr>
          <a:xfrm>
            <a:off x="4489704" y="4462272"/>
            <a:ext cx="3246120" cy="868680"/>
          </a:xfrm>
          <a:prstGeom prst="rect">
            <a:avLst/>
          </a:prstGeom>
          <a:noFill/>
        </p:spPr>
        <p:txBody>
          <a:bodyPr wrap="square" lIns="0" rIns="0" tIns="0" bIns="0">
            <a:spAutoFit/>
          </a:bodyPr>
          <a:lstStyle/>
          <a:p>
            <a:pPr algn="l">
              <a:lnSpc>
                <a:spcPct val="114000"/>
              </a:lnSpc>
            </a:pPr>
            <a:r>
              <a:rPr sz="840" b="0" i="0">
                <a:solidFill>
                  <a:srgbClr val="8AA6A0"/>
                </a:solidFill>
                <a:latin typeface="Helvetica Neue"/>
              </a:rPr>
              <a:t>PropTech · Workplace · ESG · Energy · DC ops · Plant · Factory · Water</a:t>
            </a:r>
          </a:p>
        </p:txBody>
      </p:sp>
      <p:sp>
        <p:nvSpPr>
          <p:cNvPr id="30" name="TextBox 29"/>
          <p:cNvSpPr txBox="1"/>
          <p:nvPr/>
        </p:nvSpPr>
        <p:spPr>
          <a:xfrm>
            <a:off x="4489704" y="5257800"/>
            <a:ext cx="3108960" cy="182880"/>
          </a:xfrm>
          <a:prstGeom prst="rect">
            <a:avLst/>
          </a:prstGeom>
          <a:noFill/>
        </p:spPr>
        <p:txBody>
          <a:bodyPr wrap="square" lIns="0" rIns="0" tIns="0" bIns="0">
            <a:spAutoFit/>
          </a:bodyPr>
          <a:lstStyle/>
          <a:p>
            <a:pPr algn="l">
              <a:lnSpc>
                <a:spcPct val="100000"/>
              </a:lnSpc>
            </a:pPr>
            <a:r>
              <a:rPr sz="640" b="1" i="0">
                <a:solidFill>
                  <a:srgbClr val="5F7875"/>
                </a:solidFill>
                <a:latin typeface="SF Mono"/>
              </a:rPr>
              <a:t>DOMAIN MODULES</a:t>
            </a:r>
          </a:p>
        </p:txBody>
      </p:sp>
      <p:sp>
        <p:nvSpPr>
          <p:cNvPr id="31" name="Rounded Rectangle 30"/>
          <p:cNvSpPr/>
          <p:nvPr/>
        </p:nvSpPr>
        <p:spPr>
          <a:xfrm>
            <a:off x="502920" y="5852160"/>
            <a:ext cx="11155680" cy="41148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961888"/>
            <a:ext cx="10789920" cy="182880"/>
          </a:xfrm>
          <a:prstGeom prst="rect">
            <a:avLst/>
          </a:prstGeom>
          <a:noFill/>
        </p:spPr>
        <p:txBody>
          <a:bodyPr wrap="square" lIns="0" rIns="0" tIns="0" bIns="0">
            <a:spAutoFit/>
          </a:bodyPr>
          <a:lstStyle/>
          <a:p>
            <a:pPr algn="l">
              <a:lnSpc>
                <a:spcPct val="100000"/>
              </a:lnSpc>
            </a:pPr>
            <a:r>
              <a:rPr sz="700" b="1" i="0">
                <a:solidFill>
                  <a:srgbClr val="53F0BE"/>
                </a:solidFill>
                <a:latin typeface="SF Mono"/>
              </a:rPr>
              <a:t>58 ROUTES   ·   55 3D SCENES   ·   ONE SHARED SHELL   ·   ONE NAVIGATION</a:t>
            </a:r>
          </a:p>
        </p:txBody>
      </p:sp>
      <p:sp>
        <p:nvSpPr>
          <p:cNvPr id="33" name="TextBox 32"/>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34" name="TextBox 33"/>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06  /  DIGITAL TWIN</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800" b="1" i="0">
                <a:solidFill>
                  <a:srgbClr val="EAF2F0"/>
                </a:solidFill>
                <a:latin typeface="Helvetica Neue"/>
              </a:rPr>
              <a:t>A living model of the precinct.</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730" b="0" i="0">
                <a:solidFill>
                  <a:srgbClr val="8AA6A0"/>
                </a:solidFill>
                <a:latin typeface="Helvetica Neue"/>
              </a:rPr>
              <a:t>The twin is the front door to the portfolio: 19 assets, 4.82M ft² under management and 1,284 live sensor streams in one navigable model.</a:t>
            </a:r>
          </a:p>
        </p:txBody>
      </p:sp>
      <p:pic>
        <p:nvPicPr>
          <p:cNvPr id="6" name="Picture 5" descr="twin.jpg"/>
          <p:cNvPicPr>
            <a:picLocks noChangeAspect="1"/>
          </p:cNvPicPr>
          <p:nvPr/>
        </p:nvPicPr>
        <p:blipFill>
          <a:blip r:embed="rId2"/>
          <a:stretch>
            <a:fillRect/>
          </a:stretch>
        </p:blipFill>
        <p:spPr>
          <a:xfrm>
            <a:off x="502920" y="2331720"/>
            <a:ext cx="7315200" cy="3931920"/>
          </a:xfrm>
          <a:prstGeom prst="rect">
            <a:avLst/>
          </a:prstGeom>
          <a:ln w="12700">
            <a:solidFill>
              <a:srgbClr val="1B2C33"/>
            </a:solidFill>
          </a:ln>
        </p:spPr>
      </p:pic>
      <p:sp>
        <p:nvSpPr>
          <p:cNvPr id="7" name="TextBox 6"/>
          <p:cNvSpPr txBox="1"/>
          <p:nvPr/>
        </p:nvSpPr>
        <p:spPr>
          <a:xfrm>
            <a:off x="8092440" y="2377440"/>
            <a:ext cx="3566160" cy="3108960"/>
          </a:xfrm>
          <a:prstGeom prst="rect">
            <a:avLst/>
          </a:prstGeom>
          <a:noFill/>
        </p:spPr>
        <p:txBody>
          <a:bodyPr wrap="square" lIns="0" rIns="0" tIns="0" bIns="0">
            <a:spAutoFit/>
          </a:bodyPr>
          <a:lstStyle/>
          <a:p>
            <a:pPr>
              <a:lnSpc>
                <a:spcPct val="115000"/>
              </a:lnSpc>
              <a:spcAft>
                <a:spcPts val="800"/>
              </a:spcAft>
            </a:pPr>
            <a:r>
              <a:rPr sz="550">
                <a:solidFill>
                  <a:srgbClr val="53F0BE"/>
                </a:solidFill>
                <a:latin typeface="Helvetica Neue"/>
              </a:rPr>
              <a:t>●  </a:t>
            </a:r>
            <a:r>
              <a:rPr sz="869">
                <a:solidFill>
                  <a:srgbClr val="8AA6A0"/>
                </a:solidFill>
                <a:latin typeface="Helvetica Neue"/>
              </a:rPr>
              <a:t>Building-level energy, occupancy, availability and sensor health.</a:t>
            </a:r>
          </a:p>
          <a:p>
            <a:pPr>
              <a:lnSpc>
                <a:spcPct val="115000"/>
              </a:lnSpc>
              <a:spcAft>
                <a:spcPts val="800"/>
              </a:spcAft>
            </a:pPr>
            <a:r>
              <a:rPr sz="550">
                <a:solidFill>
                  <a:srgbClr val="53F0BE"/>
                </a:solidFill>
                <a:latin typeface="Helvetica Neue"/>
              </a:rPr>
              <a:t>●  </a:t>
            </a:r>
            <a:r>
              <a:rPr sz="869">
                <a:solidFill>
                  <a:srgbClr val="8AA6A0"/>
                </a:solidFill>
                <a:latin typeface="Helvetica Neue"/>
              </a:rPr>
              <a:t>District context: Kai Tak, Kowloon East, Central Harbour and TKO.</a:t>
            </a:r>
          </a:p>
          <a:p>
            <a:pPr>
              <a:lnSpc>
                <a:spcPct val="115000"/>
              </a:lnSpc>
              <a:spcAft>
                <a:spcPts val="800"/>
              </a:spcAft>
            </a:pPr>
            <a:r>
              <a:rPr sz="550">
                <a:solidFill>
                  <a:srgbClr val="53F0BE"/>
                </a:solidFill>
                <a:latin typeface="Helvetica Neue"/>
              </a:rPr>
              <a:t>●  </a:t>
            </a:r>
            <a:r>
              <a:rPr sz="869">
                <a:solidFill>
                  <a:srgbClr val="8AA6A0"/>
                </a:solidFill>
                <a:latin typeface="Helvetica Neue"/>
              </a:rPr>
              <a:t>Night, orbit and level views; resilience scenarios for typhoon and heat.</a:t>
            </a:r>
          </a:p>
          <a:p>
            <a:pPr>
              <a:lnSpc>
                <a:spcPct val="115000"/>
              </a:lnSpc>
              <a:spcAft>
                <a:spcPts val="800"/>
              </a:spcAft>
            </a:pPr>
            <a:r>
              <a:rPr sz="550">
                <a:solidFill>
                  <a:srgbClr val="53F0BE"/>
                </a:solidFill>
                <a:latin typeface="Helvetica Neue"/>
              </a:rPr>
              <a:t>●  </a:t>
            </a:r>
            <a:r>
              <a:rPr sz="869">
                <a:solidFill>
                  <a:srgbClr val="8AA6A0"/>
                </a:solidFill>
                <a:latin typeface="Helvetica Neue"/>
              </a:rPr>
              <a:t>Asset passport, provenance, open work orders and model variance.</a:t>
            </a:r>
          </a:p>
          <a:p>
            <a:pPr>
              <a:lnSpc>
                <a:spcPct val="115000"/>
              </a:lnSpc>
              <a:spcAft>
                <a:spcPts val="800"/>
              </a:spcAft>
            </a:pPr>
            <a:r>
              <a:rPr sz="550">
                <a:solidFill>
                  <a:srgbClr val="53F0BE"/>
                </a:solidFill>
                <a:latin typeface="Helvetica Neue"/>
              </a:rPr>
              <a:t>●  </a:t>
            </a:r>
            <a:r>
              <a:rPr sz="869">
                <a:solidFill>
                  <a:srgbClr val="8AA6A0"/>
                </a:solidFill>
                <a:latin typeface="Helvetica Neue"/>
              </a:rPr>
              <a:t>Click any asset to move from spatial context to operating detail.</a:t>
            </a:r>
          </a:p>
        </p:txBody>
      </p:sp>
      <p:sp>
        <p:nvSpPr>
          <p:cNvPr id="8" name="Rounded Rectangle 7"/>
          <p:cNvSpPr/>
          <p:nvPr/>
        </p:nvSpPr>
        <p:spPr>
          <a:xfrm>
            <a:off x="8092440" y="5532120"/>
            <a:ext cx="150876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53F0BE"/>
                </a:solidFill>
                <a:latin typeface="SF Mono"/>
              </a:rPr>
              <a:t>WEBGL2 · LIVE</a:t>
            </a:r>
          </a:p>
        </p:txBody>
      </p:sp>
      <p:sp>
        <p:nvSpPr>
          <p:cNvPr id="9" name="Rounded Rectangle 8"/>
          <p:cNvSpPr/>
          <p:nvPr/>
        </p:nvSpPr>
        <p:spPr>
          <a:xfrm>
            <a:off x="9738360" y="5532120"/>
            <a:ext cx="182880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76C9C9"/>
                </a:solidFill>
                <a:latin typeface="SF Mono"/>
              </a:rPr>
              <a:t>IFC 4.3 · LOD 350</a:t>
            </a:r>
          </a:p>
        </p:txBody>
      </p:sp>
      <p:sp>
        <p:nvSpPr>
          <p:cNvPr id="10" name="TextBox 9"/>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11" name="TextBox 10"/>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07  /  BIM STUDIO</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800" b="1" i="0">
                <a:solidFill>
                  <a:srgbClr val="EAF2F0"/>
                </a:solidFill>
                <a:latin typeface="Helvetica Neue"/>
              </a:rPr>
              <a:t>Model once. Build right.</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730" b="0" i="0">
                <a:solidFill>
                  <a:srgbClr val="8AA6A0"/>
                </a:solidFill>
                <a:latin typeface="Helvetica Neue"/>
              </a:rPr>
              <a:t>Federated architecture, structure, MEP and fire models, coordinated before work starts, with 4D sequencing, clash resolution and COBie handover.</a:t>
            </a:r>
          </a:p>
        </p:txBody>
      </p:sp>
      <p:pic>
        <p:nvPicPr>
          <p:cNvPr id="6" name="Picture 5" descr="bim.jpg"/>
          <p:cNvPicPr>
            <a:picLocks noChangeAspect="1"/>
          </p:cNvPicPr>
          <p:nvPr/>
        </p:nvPicPr>
        <p:blipFill>
          <a:blip r:embed="rId2"/>
          <a:stretch>
            <a:fillRect/>
          </a:stretch>
        </p:blipFill>
        <p:spPr>
          <a:xfrm>
            <a:off x="502920" y="2331720"/>
            <a:ext cx="7315200" cy="3931920"/>
          </a:xfrm>
          <a:prstGeom prst="rect">
            <a:avLst/>
          </a:prstGeom>
          <a:ln w="12700">
            <a:solidFill>
              <a:srgbClr val="1B2C33"/>
            </a:solidFill>
          </a:ln>
        </p:spPr>
      </p:pic>
      <p:sp>
        <p:nvSpPr>
          <p:cNvPr id="7" name="TextBox 6"/>
          <p:cNvSpPr txBox="1"/>
          <p:nvPr/>
        </p:nvSpPr>
        <p:spPr>
          <a:xfrm>
            <a:off x="8092440" y="2377440"/>
            <a:ext cx="3566160" cy="3246120"/>
          </a:xfrm>
          <a:prstGeom prst="rect">
            <a:avLst/>
          </a:prstGeom>
          <a:noFill/>
        </p:spPr>
        <p:txBody>
          <a:bodyPr wrap="square" lIns="0" rIns="0" tIns="0" bIns="0">
            <a:spAutoFit/>
          </a:bodyPr>
          <a:lstStyle/>
          <a:p>
            <a:pPr>
              <a:lnSpc>
                <a:spcPct val="115000"/>
              </a:lnSpc>
              <a:spcAft>
                <a:spcPts val="700"/>
              </a:spcAft>
            </a:pPr>
            <a:r>
              <a:rPr sz="550">
                <a:solidFill>
                  <a:srgbClr val="53F0BE"/>
                </a:solidFill>
                <a:latin typeface="Helvetica Neue"/>
              </a:rPr>
              <a:t>●  </a:t>
            </a:r>
            <a:r>
              <a:rPr sz="869">
                <a:solidFill>
                  <a:srgbClr val="8AA6A0"/>
                </a:solidFill>
                <a:latin typeface="Helvetica Neue"/>
              </a:rPr>
              <a:t>IFC 4.3 federation with LOD 200 / 350 / 500 switching.</a:t>
            </a:r>
          </a:p>
          <a:p>
            <a:pPr>
              <a:lnSpc>
                <a:spcPct val="115000"/>
              </a:lnSpc>
              <a:spcAft>
                <a:spcPts val="700"/>
              </a:spcAft>
            </a:pPr>
            <a:r>
              <a:rPr sz="550">
                <a:solidFill>
                  <a:srgbClr val="53F0BE"/>
                </a:solidFill>
                <a:latin typeface="Helvetica Neue"/>
              </a:rPr>
              <a:t>●  </a:t>
            </a:r>
            <a:r>
              <a:rPr sz="869">
                <a:solidFill>
                  <a:srgbClr val="8AA6A0"/>
                </a:solidFill>
                <a:latin typeface="Helvetica Neue"/>
              </a:rPr>
              <a:t>Discipline filters for architecture, structure, MEP, fire and site.</a:t>
            </a:r>
          </a:p>
          <a:p>
            <a:pPr>
              <a:lnSpc>
                <a:spcPct val="115000"/>
              </a:lnSpc>
              <a:spcAft>
                <a:spcPts val="700"/>
              </a:spcAft>
            </a:pPr>
            <a:r>
              <a:rPr sz="550">
                <a:solidFill>
                  <a:srgbClr val="53F0BE"/>
                </a:solidFill>
                <a:latin typeface="Helvetica Neue"/>
              </a:rPr>
              <a:t>●  </a:t>
            </a:r>
            <a:r>
              <a:rPr sz="869">
                <a:solidFill>
                  <a:srgbClr val="8AA6A0"/>
                </a:solidFill>
                <a:latin typeface="Helvetica Neue"/>
              </a:rPr>
              <a:t>Clash register with distance, owner, severity and recommendation.</a:t>
            </a:r>
          </a:p>
          <a:p>
            <a:pPr>
              <a:lnSpc>
                <a:spcPct val="115000"/>
              </a:lnSpc>
              <a:spcAft>
                <a:spcPts val="700"/>
              </a:spcAft>
            </a:pPr>
            <a:r>
              <a:rPr sz="550">
                <a:solidFill>
                  <a:srgbClr val="53F0BE"/>
                </a:solidFill>
                <a:latin typeface="Helvetica Neue"/>
              </a:rPr>
              <a:t>●  </a:t>
            </a:r>
            <a:r>
              <a:rPr sz="869">
                <a:solidFill>
                  <a:srgbClr val="8AA6A0"/>
                </a:solidFill>
                <a:latin typeface="Helvetica Neue"/>
              </a:rPr>
              <a:t>4D sequence from mobilise to handover; COBie asset data.</a:t>
            </a:r>
          </a:p>
          <a:p>
            <a:pPr>
              <a:lnSpc>
                <a:spcPct val="115000"/>
              </a:lnSpc>
              <a:spcAft>
                <a:spcPts val="700"/>
              </a:spcAft>
            </a:pPr>
            <a:r>
              <a:rPr sz="550">
                <a:solidFill>
                  <a:srgbClr val="53F0BE"/>
                </a:solidFill>
                <a:latin typeface="Helvetica Neue"/>
              </a:rPr>
              <a:t>●  </a:t>
            </a:r>
            <a:r>
              <a:rPr sz="869">
                <a:solidFill>
                  <a:srgbClr val="8AA6A0"/>
                </a:solidFill>
                <a:latin typeface="Helvetica Neue"/>
              </a:rPr>
              <a:t>Element inspection: object data, system, level and responsibility.</a:t>
            </a:r>
          </a:p>
        </p:txBody>
      </p:sp>
      <p:sp>
        <p:nvSpPr>
          <p:cNvPr id="8" name="Rounded Rectangle 7"/>
          <p:cNvSpPr/>
          <p:nvPr/>
        </p:nvSpPr>
        <p:spPr>
          <a:xfrm>
            <a:off x="8092440" y="5715000"/>
            <a:ext cx="132588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53F0BE"/>
                </a:solidFill>
                <a:latin typeface="SF Mono"/>
              </a:rPr>
              <a:t>ISO 19650</a:t>
            </a:r>
          </a:p>
        </p:txBody>
      </p:sp>
      <p:sp>
        <p:nvSpPr>
          <p:cNvPr id="9" name="Rounded Rectangle 8"/>
          <p:cNvSpPr/>
          <p:nvPr/>
        </p:nvSpPr>
        <p:spPr>
          <a:xfrm>
            <a:off x="9555480" y="5715000"/>
            <a:ext cx="201168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76C9C9"/>
                </a:solidFill>
                <a:latin typeface="SF Mono"/>
              </a:rPr>
              <a:t>BCF · COBie</a:t>
            </a:r>
          </a:p>
        </p:txBody>
      </p:sp>
      <p:sp>
        <p:nvSpPr>
          <p:cNvPr id="10" name="TextBox 9"/>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11" name="TextBox 10"/>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08  /  BIM ON SITE</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800" b="1" i="0">
                <a:solidFill>
                  <a:srgbClr val="EAF2F0"/>
                </a:solidFill>
                <a:latin typeface="Helvetica Neue"/>
              </a:rPr>
              <a:t>From model to site.</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730" b="0" i="0">
                <a:solidFill>
                  <a:srgbClr val="8AA6A0"/>
                </a:solidFill>
                <a:latin typeface="Helvetica Neue"/>
              </a:rPr>
              <a:t>A professional BIM demo on a live Kai Tak construction site: Tower A, 34 storeys, 62% complete, two tower cranes and a controlled CDE.</a:t>
            </a:r>
          </a:p>
        </p:txBody>
      </p:sp>
      <p:pic>
        <p:nvPicPr>
          <p:cNvPr id="6" name="Picture 5" descr="site.jpg"/>
          <p:cNvPicPr>
            <a:picLocks noChangeAspect="1"/>
          </p:cNvPicPr>
          <p:nvPr/>
        </p:nvPicPr>
        <p:blipFill>
          <a:blip r:embed="rId2"/>
          <a:stretch>
            <a:fillRect/>
          </a:stretch>
        </p:blipFill>
        <p:spPr>
          <a:xfrm>
            <a:off x="502920" y="2331720"/>
            <a:ext cx="7315200" cy="3931920"/>
          </a:xfrm>
          <a:prstGeom prst="rect">
            <a:avLst/>
          </a:prstGeom>
          <a:ln w="12700">
            <a:solidFill>
              <a:srgbClr val="1B2C33"/>
            </a:solidFill>
          </a:ln>
        </p:spPr>
      </p:pic>
      <p:sp>
        <p:nvSpPr>
          <p:cNvPr id="7" name="TextBox 6"/>
          <p:cNvSpPr txBox="1"/>
          <p:nvPr/>
        </p:nvSpPr>
        <p:spPr>
          <a:xfrm>
            <a:off x="8092440" y="2377440"/>
            <a:ext cx="3566160" cy="3246120"/>
          </a:xfrm>
          <a:prstGeom prst="rect">
            <a:avLst/>
          </a:prstGeom>
          <a:noFill/>
        </p:spPr>
        <p:txBody>
          <a:bodyPr wrap="square" lIns="0" rIns="0" tIns="0" bIns="0">
            <a:spAutoFit/>
          </a:bodyPr>
          <a:lstStyle/>
          <a:p>
            <a:pPr>
              <a:lnSpc>
                <a:spcPct val="115000"/>
              </a:lnSpc>
              <a:spcAft>
                <a:spcPts val="700"/>
              </a:spcAft>
            </a:pPr>
            <a:r>
              <a:rPr sz="550">
                <a:solidFill>
                  <a:srgbClr val="53F0BE"/>
                </a:solidFill>
                <a:latin typeface="Helvetica Neue"/>
              </a:rPr>
              <a:t>●  </a:t>
            </a:r>
            <a:r>
              <a:rPr sz="869">
                <a:solidFill>
                  <a:srgbClr val="8AA6A0"/>
                </a:solidFill>
                <a:latin typeface="Helvetica Neue"/>
              </a:rPr>
              <a:t>Real construction condition: podium, frame, partial facade and scaffolding.</a:t>
            </a:r>
          </a:p>
          <a:p>
            <a:pPr>
              <a:lnSpc>
                <a:spcPct val="115000"/>
              </a:lnSpc>
              <a:spcAft>
                <a:spcPts val="700"/>
              </a:spcAft>
            </a:pPr>
            <a:r>
              <a:rPr sz="550">
                <a:solidFill>
                  <a:srgbClr val="53F0BE"/>
                </a:solidFill>
                <a:latin typeface="Helvetica Neue"/>
              </a:rPr>
              <a:t>●  </a:t>
            </a:r>
            <a:r>
              <a:rPr sz="869">
                <a:solidFill>
                  <a:srgbClr val="8AA6A0"/>
                </a:solidFill>
                <a:latin typeface="Helvetica Neue"/>
              </a:rPr>
              <a:t>Site logistics: cranes, offices, hoarding, rebar, excavator and deliveries.</a:t>
            </a:r>
          </a:p>
          <a:p>
            <a:pPr>
              <a:lnSpc>
                <a:spcPct val="115000"/>
              </a:lnSpc>
              <a:spcAft>
                <a:spcPts val="700"/>
              </a:spcAft>
            </a:pPr>
            <a:r>
              <a:rPr sz="550">
                <a:solidFill>
                  <a:srgbClr val="53F0BE"/>
                </a:solidFill>
                <a:latin typeface="Helvetica Neue"/>
              </a:rPr>
              <a:t>●  </a:t>
            </a:r>
            <a:r>
              <a:rPr sz="869">
                <a:solidFill>
                  <a:srgbClr val="8AA6A0"/>
                </a:solidFill>
                <a:latin typeface="Helvetica Neue"/>
              </a:rPr>
              <a:t>Day / dusk and Site / BIM / As-built views.</a:t>
            </a:r>
          </a:p>
          <a:p>
            <a:pPr>
              <a:lnSpc>
                <a:spcPct val="115000"/>
              </a:lnSpc>
              <a:spcAft>
                <a:spcPts val="700"/>
              </a:spcAft>
            </a:pPr>
            <a:r>
              <a:rPr sz="550">
                <a:solidFill>
                  <a:srgbClr val="53F0BE"/>
                </a:solidFill>
                <a:latin typeface="Helvetica Neue"/>
              </a:rPr>
              <a:t>●  </a:t>
            </a:r>
            <a:r>
              <a:rPr sz="869">
                <a:solidFill>
                  <a:srgbClr val="8AA6A0"/>
                </a:solidFill>
                <a:latin typeface="Helvetica Neue"/>
              </a:rPr>
              <a:t>4D scrub from mobilisation to handover; live clash markers.</a:t>
            </a:r>
          </a:p>
          <a:p>
            <a:pPr>
              <a:lnSpc>
                <a:spcPct val="115000"/>
              </a:lnSpc>
              <a:spcAft>
                <a:spcPts val="700"/>
              </a:spcAft>
            </a:pPr>
            <a:r>
              <a:rPr sz="550">
                <a:solidFill>
                  <a:srgbClr val="53F0BE"/>
                </a:solidFill>
                <a:latin typeface="Helvetica Neue"/>
              </a:rPr>
              <a:t>●  </a:t>
            </a:r>
            <a:r>
              <a:rPr sz="869">
                <a:solidFill>
                  <a:srgbClr val="8AA6A0"/>
                </a:solidFill>
                <a:latin typeface="Helvetica Neue"/>
              </a:rPr>
              <a:t>Model register, quantities, RFIs, workforce and permits.</a:t>
            </a:r>
          </a:p>
        </p:txBody>
      </p:sp>
      <p:sp>
        <p:nvSpPr>
          <p:cNvPr id="8" name="Rounded Rectangle 7"/>
          <p:cNvSpPr/>
          <p:nvPr/>
        </p:nvSpPr>
        <p:spPr>
          <a:xfrm>
            <a:off x="8092440" y="5715000"/>
            <a:ext cx="164592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F4BD72"/>
                </a:solidFill>
                <a:latin typeface="SF Mono"/>
              </a:rPr>
              <a:t>TOWER A · L21</a:t>
            </a:r>
          </a:p>
        </p:txBody>
      </p:sp>
      <p:sp>
        <p:nvSpPr>
          <p:cNvPr id="9" name="Rounded Rectangle 8"/>
          <p:cNvSpPr/>
          <p:nvPr/>
        </p:nvSpPr>
        <p:spPr>
          <a:xfrm>
            <a:off x="9829800" y="5715000"/>
            <a:ext cx="173736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53F0BE"/>
                </a:solidFill>
                <a:latin typeface="SF Mono"/>
              </a:rPr>
              <a:t>62% COMPLETE</a:t>
            </a:r>
          </a:p>
        </p:txBody>
      </p:sp>
      <p:sp>
        <p:nvSpPr>
          <p:cNvPr id="10" name="TextBox 9"/>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11" name="TextBox 10"/>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09  /  BIM TOOLCHAIN</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800" b="1" i="0">
                <a:solidFill>
                  <a:srgbClr val="EAF2F0"/>
                </a:solidFill>
                <a:latin typeface="Helvetica Neue"/>
              </a:rPr>
              <a:t>Ten tools. One model. One truth.</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710" b="0" i="0">
                <a:solidFill>
                  <a:srgbClr val="8AA6A0"/>
                </a:solidFill>
                <a:latin typeface="Helvetica Neue"/>
              </a:rPr>
              <a:t>The complete BIM workflow from authoring to operations, with Proptech.AI access and occupancy data feeding the digital twin.</a:t>
            </a:r>
          </a:p>
        </p:txBody>
      </p:sp>
      <p:pic>
        <p:nvPicPr>
          <p:cNvPr id="6" name="Picture 5" descr="workflows.jpg"/>
          <p:cNvPicPr>
            <a:picLocks noChangeAspect="1"/>
          </p:cNvPicPr>
          <p:nvPr/>
        </p:nvPicPr>
        <p:blipFill>
          <a:blip r:embed="rId2"/>
          <a:stretch>
            <a:fillRect/>
          </a:stretch>
        </p:blipFill>
        <p:spPr>
          <a:xfrm>
            <a:off x="502920" y="2286000"/>
            <a:ext cx="6903720" cy="3977639"/>
          </a:xfrm>
          <a:prstGeom prst="rect">
            <a:avLst/>
          </a:prstGeom>
          <a:ln w="12700">
            <a:solidFill>
              <a:srgbClr val="1B2C33"/>
            </a:solidFill>
          </a:ln>
        </p:spPr>
      </p:pic>
      <p:sp>
        <p:nvSpPr>
          <p:cNvPr id="7" name="Rounded Rectangle 6"/>
          <p:cNvSpPr/>
          <p:nvPr/>
        </p:nvSpPr>
        <p:spPr>
          <a:xfrm>
            <a:off x="7589520" y="2286000"/>
            <a:ext cx="4096512" cy="3977639"/>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90688" y="2423160"/>
            <a:ext cx="3657600" cy="182880"/>
          </a:xfrm>
          <a:prstGeom prst="rect">
            <a:avLst/>
          </a:prstGeom>
          <a:noFill/>
        </p:spPr>
        <p:txBody>
          <a:bodyPr wrap="square" lIns="0" rIns="0" tIns="0" bIns="0">
            <a:spAutoFit/>
          </a:bodyPr>
          <a:lstStyle/>
          <a:p>
            <a:pPr algn="l">
              <a:lnSpc>
                <a:spcPct val="100000"/>
              </a:lnSpc>
            </a:pPr>
            <a:r>
              <a:rPr sz="680" b="1" i="0">
                <a:solidFill>
                  <a:srgbClr val="53F0BE"/>
                </a:solidFill>
                <a:latin typeface="SF Mono"/>
              </a:rPr>
              <a:t>AUTHORING → COORDINATION → OPERATE</a:t>
            </a:r>
          </a:p>
        </p:txBody>
      </p:sp>
      <p:sp>
        <p:nvSpPr>
          <p:cNvPr id="9" name="TextBox 8"/>
          <p:cNvSpPr txBox="1"/>
          <p:nvPr/>
        </p:nvSpPr>
        <p:spPr>
          <a:xfrm>
            <a:off x="7790688" y="2724912"/>
            <a:ext cx="2240280" cy="182880"/>
          </a:xfrm>
          <a:prstGeom prst="rect">
            <a:avLst/>
          </a:prstGeom>
          <a:noFill/>
        </p:spPr>
        <p:txBody>
          <a:bodyPr wrap="square" lIns="0" rIns="0" tIns="0" bIns="0">
            <a:spAutoFit/>
          </a:bodyPr>
          <a:lstStyle/>
          <a:p>
            <a:pPr algn="l">
              <a:lnSpc>
                <a:spcPct val="100000"/>
              </a:lnSpc>
            </a:pPr>
            <a:r>
              <a:rPr sz="780" b="1" i="0">
                <a:solidFill>
                  <a:srgbClr val="EAF2F0"/>
                </a:solidFill>
                <a:latin typeface="Helvetica Neue"/>
              </a:rPr>
              <a:t>Autodesk Revit</a:t>
            </a:r>
          </a:p>
        </p:txBody>
      </p:sp>
      <p:sp>
        <p:nvSpPr>
          <p:cNvPr id="10" name="TextBox 9"/>
          <p:cNvSpPr txBox="1"/>
          <p:nvPr/>
        </p:nvSpPr>
        <p:spPr>
          <a:xfrm>
            <a:off x="10012680" y="2724912"/>
            <a:ext cx="1508760" cy="182880"/>
          </a:xfrm>
          <a:prstGeom prst="rect">
            <a:avLst/>
          </a:prstGeom>
          <a:noFill/>
        </p:spPr>
        <p:txBody>
          <a:bodyPr wrap="square" lIns="0" rIns="0" tIns="0" bIns="0">
            <a:spAutoFit/>
          </a:bodyPr>
          <a:lstStyle/>
          <a:p>
            <a:pPr algn="l">
              <a:lnSpc>
                <a:spcPct val="100000"/>
              </a:lnSpc>
            </a:pPr>
            <a:r>
              <a:rPr sz="620" b="0" i="0">
                <a:solidFill>
                  <a:srgbClr val="5F7875"/>
                </a:solidFill>
                <a:latin typeface="SF Mono"/>
              </a:rPr>
              <a:t>Authoring · RVT / IFC</a:t>
            </a:r>
          </a:p>
        </p:txBody>
      </p:sp>
      <p:sp>
        <p:nvSpPr>
          <p:cNvPr id="11" name="TextBox 10"/>
          <p:cNvSpPr txBox="1"/>
          <p:nvPr/>
        </p:nvSpPr>
        <p:spPr>
          <a:xfrm>
            <a:off x="7790688" y="3090672"/>
            <a:ext cx="2240280" cy="182880"/>
          </a:xfrm>
          <a:prstGeom prst="rect">
            <a:avLst/>
          </a:prstGeom>
          <a:noFill/>
        </p:spPr>
        <p:txBody>
          <a:bodyPr wrap="square" lIns="0" rIns="0" tIns="0" bIns="0">
            <a:spAutoFit/>
          </a:bodyPr>
          <a:lstStyle/>
          <a:p>
            <a:pPr algn="l">
              <a:lnSpc>
                <a:spcPct val="100000"/>
              </a:lnSpc>
            </a:pPr>
            <a:r>
              <a:rPr sz="780" b="1" i="0">
                <a:solidFill>
                  <a:srgbClr val="EAF2F0"/>
                </a:solidFill>
                <a:latin typeface="Helvetica Neue"/>
              </a:rPr>
              <a:t>ArchiCAD</a:t>
            </a:r>
          </a:p>
        </p:txBody>
      </p:sp>
      <p:sp>
        <p:nvSpPr>
          <p:cNvPr id="12" name="TextBox 11"/>
          <p:cNvSpPr txBox="1"/>
          <p:nvPr/>
        </p:nvSpPr>
        <p:spPr>
          <a:xfrm>
            <a:off x="10012680" y="3090672"/>
            <a:ext cx="1508760" cy="182880"/>
          </a:xfrm>
          <a:prstGeom prst="rect">
            <a:avLst/>
          </a:prstGeom>
          <a:noFill/>
        </p:spPr>
        <p:txBody>
          <a:bodyPr wrap="square" lIns="0" rIns="0" tIns="0" bIns="0">
            <a:spAutoFit/>
          </a:bodyPr>
          <a:lstStyle/>
          <a:p>
            <a:pPr algn="l">
              <a:lnSpc>
                <a:spcPct val="100000"/>
              </a:lnSpc>
            </a:pPr>
            <a:r>
              <a:rPr sz="620" b="0" i="0">
                <a:solidFill>
                  <a:srgbClr val="5F7875"/>
                </a:solidFill>
                <a:latin typeface="SF Mono"/>
              </a:rPr>
              <a:t>Authoring · PLN / IFC</a:t>
            </a:r>
          </a:p>
        </p:txBody>
      </p:sp>
      <p:sp>
        <p:nvSpPr>
          <p:cNvPr id="13" name="TextBox 12"/>
          <p:cNvSpPr txBox="1"/>
          <p:nvPr/>
        </p:nvSpPr>
        <p:spPr>
          <a:xfrm>
            <a:off x="7790688" y="3456432"/>
            <a:ext cx="2240280" cy="182880"/>
          </a:xfrm>
          <a:prstGeom prst="rect">
            <a:avLst/>
          </a:prstGeom>
          <a:noFill/>
        </p:spPr>
        <p:txBody>
          <a:bodyPr wrap="square" lIns="0" rIns="0" tIns="0" bIns="0">
            <a:spAutoFit/>
          </a:bodyPr>
          <a:lstStyle/>
          <a:p>
            <a:pPr algn="l">
              <a:lnSpc>
                <a:spcPct val="100000"/>
              </a:lnSpc>
            </a:pPr>
            <a:r>
              <a:rPr sz="780" b="1" i="0">
                <a:solidFill>
                  <a:srgbClr val="EAF2F0"/>
                </a:solidFill>
                <a:latin typeface="Helvetica Neue"/>
              </a:rPr>
              <a:t>SketchUp</a:t>
            </a:r>
          </a:p>
        </p:txBody>
      </p:sp>
      <p:sp>
        <p:nvSpPr>
          <p:cNvPr id="14" name="TextBox 13"/>
          <p:cNvSpPr txBox="1"/>
          <p:nvPr/>
        </p:nvSpPr>
        <p:spPr>
          <a:xfrm>
            <a:off x="10012680" y="3456432"/>
            <a:ext cx="1508760" cy="182880"/>
          </a:xfrm>
          <a:prstGeom prst="rect">
            <a:avLst/>
          </a:prstGeom>
          <a:noFill/>
        </p:spPr>
        <p:txBody>
          <a:bodyPr wrap="square" lIns="0" rIns="0" tIns="0" bIns="0">
            <a:spAutoFit/>
          </a:bodyPr>
          <a:lstStyle/>
          <a:p>
            <a:pPr algn="l">
              <a:lnSpc>
                <a:spcPct val="100000"/>
              </a:lnSpc>
            </a:pPr>
            <a:r>
              <a:rPr sz="620" b="0" i="0">
                <a:solidFill>
                  <a:srgbClr val="5F7875"/>
                </a:solidFill>
                <a:latin typeface="SF Mono"/>
              </a:rPr>
              <a:t>Massing · SKP</a:t>
            </a:r>
          </a:p>
        </p:txBody>
      </p:sp>
      <p:sp>
        <p:nvSpPr>
          <p:cNvPr id="15" name="TextBox 14"/>
          <p:cNvSpPr txBox="1"/>
          <p:nvPr/>
        </p:nvSpPr>
        <p:spPr>
          <a:xfrm>
            <a:off x="7790688" y="3822191"/>
            <a:ext cx="2240280" cy="182880"/>
          </a:xfrm>
          <a:prstGeom prst="rect">
            <a:avLst/>
          </a:prstGeom>
          <a:noFill/>
        </p:spPr>
        <p:txBody>
          <a:bodyPr wrap="square" lIns="0" rIns="0" tIns="0" bIns="0">
            <a:spAutoFit/>
          </a:bodyPr>
          <a:lstStyle/>
          <a:p>
            <a:pPr algn="l">
              <a:lnSpc>
                <a:spcPct val="100000"/>
              </a:lnSpc>
            </a:pPr>
            <a:r>
              <a:rPr sz="780" b="1" i="0">
                <a:solidFill>
                  <a:srgbClr val="EAF2F0"/>
                </a:solidFill>
                <a:latin typeface="Helvetica Neue"/>
              </a:rPr>
              <a:t>Rhino + Grasshopper</a:t>
            </a:r>
          </a:p>
        </p:txBody>
      </p:sp>
      <p:sp>
        <p:nvSpPr>
          <p:cNvPr id="16" name="TextBox 15"/>
          <p:cNvSpPr txBox="1"/>
          <p:nvPr/>
        </p:nvSpPr>
        <p:spPr>
          <a:xfrm>
            <a:off x="10012680" y="3822191"/>
            <a:ext cx="1508760" cy="182880"/>
          </a:xfrm>
          <a:prstGeom prst="rect">
            <a:avLst/>
          </a:prstGeom>
          <a:noFill/>
        </p:spPr>
        <p:txBody>
          <a:bodyPr wrap="square" lIns="0" rIns="0" tIns="0" bIns="0">
            <a:spAutoFit/>
          </a:bodyPr>
          <a:lstStyle/>
          <a:p>
            <a:pPr algn="l">
              <a:lnSpc>
                <a:spcPct val="100000"/>
              </a:lnSpc>
            </a:pPr>
            <a:r>
              <a:rPr sz="620" b="0" i="0">
                <a:solidFill>
                  <a:srgbClr val="5F7875"/>
                </a:solidFill>
                <a:latin typeface="SF Mono"/>
              </a:rPr>
              <a:t>Computational · 3DM</a:t>
            </a:r>
          </a:p>
        </p:txBody>
      </p:sp>
      <p:sp>
        <p:nvSpPr>
          <p:cNvPr id="17" name="TextBox 16"/>
          <p:cNvSpPr txBox="1"/>
          <p:nvPr/>
        </p:nvSpPr>
        <p:spPr>
          <a:xfrm>
            <a:off x="7790688" y="4187952"/>
            <a:ext cx="2240280" cy="182880"/>
          </a:xfrm>
          <a:prstGeom prst="rect">
            <a:avLst/>
          </a:prstGeom>
          <a:noFill/>
        </p:spPr>
        <p:txBody>
          <a:bodyPr wrap="square" lIns="0" rIns="0" tIns="0" bIns="0">
            <a:spAutoFit/>
          </a:bodyPr>
          <a:lstStyle/>
          <a:p>
            <a:pPr algn="l">
              <a:lnSpc>
                <a:spcPct val="100000"/>
              </a:lnSpc>
            </a:pPr>
            <a:r>
              <a:rPr sz="780" b="1" i="0">
                <a:solidFill>
                  <a:srgbClr val="EAF2F0"/>
                </a:solidFill>
                <a:latin typeface="Helvetica Neue"/>
              </a:rPr>
              <a:t>Vectorworks / AutoCAD</a:t>
            </a:r>
          </a:p>
        </p:txBody>
      </p:sp>
      <p:sp>
        <p:nvSpPr>
          <p:cNvPr id="18" name="TextBox 17"/>
          <p:cNvSpPr txBox="1"/>
          <p:nvPr/>
        </p:nvSpPr>
        <p:spPr>
          <a:xfrm>
            <a:off x="10012680" y="4187952"/>
            <a:ext cx="1508760" cy="182880"/>
          </a:xfrm>
          <a:prstGeom prst="rect">
            <a:avLst/>
          </a:prstGeom>
          <a:noFill/>
        </p:spPr>
        <p:txBody>
          <a:bodyPr wrap="square" lIns="0" rIns="0" tIns="0" bIns="0">
            <a:spAutoFit/>
          </a:bodyPr>
          <a:lstStyle/>
          <a:p>
            <a:pPr algn="l">
              <a:lnSpc>
                <a:spcPct val="100000"/>
              </a:lnSpc>
            </a:pPr>
            <a:r>
              <a:rPr sz="620" b="0" i="0">
                <a:solidFill>
                  <a:srgbClr val="5F7875"/>
                </a:solidFill>
                <a:latin typeface="SF Mono"/>
              </a:rPr>
              <a:t>Documentation · VWX / DWG</a:t>
            </a:r>
          </a:p>
        </p:txBody>
      </p:sp>
      <p:sp>
        <p:nvSpPr>
          <p:cNvPr id="19" name="TextBox 18"/>
          <p:cNvSpPr txBox="1"/>
          <p:nvPr/>
        </p:nvSpPr>
        <p:spPr>
          <a:xfrm>
            <a:off x="7790688" y="4553712"/>
            <a:ext cx="2240280" cy="182880"/>
          </a:xfrm>
          <a:prstGeom prst="rect">
            <a:avLst/>
          </a:prstGeom>
          <a:noFill/>
        </p:spPr>
        <p:txBody>
          <a:bodyPr wrap="square" lIns="0" rIns="0" tIns="0" bIns="0">
            <a:spAutoFit/>
          </a:bodyPr>
          <a:lstStyle/>
          <a:p>
            <a:pPr algn="l">
              <a:lnSpc>
                <a:spcPct val="100000"/>
              </a:lnSpc>
            </a:pPr>
            <a:r>
              <a:rPr sz="780" b="1" i="0">
                <a:solidFill>
                  <a:srgbClr val="EAF2F0"/>
                </a:solidFill>
                <a:latin typeface="Helvetica Neue"/>
              </a:rPr>
              <a:t>Plannerly</a:t>
            </a:r>
          </a:p>
        </p:txBody>
      </p:sp>
      <p:sp>
        <p:nvSpPr>
          <p:cNvPr id="20" name="TextBox 19"/>
          <p:cNvSpPr txBox="1"/>
          <p:nvPr/>
        </p:nvSpPr>
        <p:spPr>
          <a:xfrm>
            <a:off x="10012680" y="4553712"/>
            <a:ext cx="1508760" cy="182880"/>
          </a:xfrm>
          <a:prstGeom prst="rect">
            <a:avLst/>
          </a:prstGeom>
          <a:noFill/>
        </p:spPr>
        <p:txBody>
          <a:bodyPr wrap="square" lIns="0" rIns="0" tIns="0" bIns="0">
            <a:spAutoFit/>
          </a:bodyPr>
          <a:lstStyle/>
          <a:p>
            <a:pPr algn="l">
              <a:lnSpc>
                <a:spcPct val="100000"/>
              </a:lnSpc>
            </a:pPr>
            <a:r>
              <a:rPr sz="620" b="0" i="0">
                <a:solidFill>
                  <a:srgbClr val="5F7875"/>
                </a:solidFill>
                <a:latin typeface="SF Mono"/>
              </a:rPr>
              <a:t>BIM management · BCF</a:t>
            </a:r>
          </a:p>
        </p:txBody>
      </p:sp>
      <p:sp>
        <p:nvSpPr>
          <p:cNvPr id="21" name="TextBox 20"/>
          <p:cNvSpPr txBox="1"/>
          <p:nvPr/>
        </p:nvSpPr>
        <p:spPr>
          <a:xfrm>
            <a:off x="7790688" y="4919472"/>
            <a:ext cx="2240280" cy="182880"/>
          </a:xfrm>
          <a:prstGeom prst="rect">
            <a:avLst/>
          </a:prstGeom>
          <a:noFill/>
        </p:spPr>
        <p:txBody>
          <a:bodyPr wrap="square" lIns="0" rIns="0" tIns="0" bIns="0">
            <a:spAutoFit/>
          </a:bodyPr>
          <a:lstStyle/>
          <a:p>
            <a:pPr algn="l">
              <a:lnSpc>
                <a:spcPct val="100000"/>
              </a:lnSpc>
            </a:pPr>
            <a:r>
              <a:rPr sz="780" b="1" i="0">
                <a:solidFill>
                  <a:srgbClr val="EAF2F0"/>
                </a:solidFill>
                <a:latin typeface="Helvetica Neue"/>
              </a:rPr>
              <a:t>Trimble Connect</a:t>
            </a:r>
          </a:p>
        </p:txBody>
      </p:sp>
      <p:sp>
        <p:nvSpPr>
          <p:cNvPr id="22" name="TextBox 21"/>
          <p:cNvSpPr txBox="1"/>
          <p:nvPr/>
        </p:nvSpPr>
        <p:spPr>
          <a:xfrm>
            <a:off x="10012680" y="4919472"/>
            <a:ext cx="1508760" cy="182880"/>
          </a:xfrm>
          <a:prstGeom prst="rect">
            <a:avLst/>
          </a:prstGeom>
          <a:noFill/>
        </p:spPr>
        <p:txBody>
          <a:bodyPr wrap="square" lIns="0" rIns="0" tIns="0" bIns="0">
            <a:spAutoFit/>
          </a:bodyPr>
          <a:lstStyle/>
          <a:p>
            <a:pPr algn="l">
              <a:lnSpc>
                <a:spcPct val="100000"/>
              </a:lnSpc>
            </a:pPr>
            <a:r>
              <a:rPr sz="620" b="0" i="0">
                <a:solidFill>
                  <a:srgbClr val="5F7875"/>
                </a:solidFill>
                <a:latin typeface="SF Mono"/>
              </a:rPr>
              <a:t>CDE · version control</a:t>
            </a:r>
          </a:p>
        </p:txBody>
      </p:sp>
      <p:sp>
        <p:nvSpPr>
          <p:cNvPr id="23" name="TextBox 22"/>
          <p:cNvSpPr txBox="1"/>
          <p:nvPr/>
        </p:nvSpPr>
        <p:spPr>
          <a:xfrm>
            <a:off x="7790688" y="5285232"/>
            <a:ext cx="2240280" cy="182880"/>
          </a:xfrm>
          <a:prstGeom prst="rect">
            <a:avLst/>
          </a:prstGeom>
          <a:noFill/>
        </p:spPr>
        <p:txBody>
          <a:bodyPr wrap="square" lIns="0" rIns="0" tIns="0" bIns="0">
            <a:spAutoFit/>
          </a:bodyPr>
          <a:lstStyle/>
          <a:p>
            <a:pPr algn="l">
              <a:lnSpc>
                <a:spcPct val="100000"/>
              </a:lnSpc>
            </a:pPr>
            <a:r>
              <a:rPr sz="780" b="1" i="0">
                <a:solidFill>
                  <a:srgbClr val="EAF2F0"/>
                </a:solidFill>
                <a:latin typeface="Helvetica Neue"/>
              </a:rPr>
              <a:t>Revizto / BIMcollab</a:t>
            </a:r>
          </a:p>
        </p:txBody>
      </p:sp>
      <p:sp>
        <p:nvSpPr>
          <p:cNvPr id="24" name="TextBox 23"/>
          <p:cNvSpPr txBox="1"/>
          <p:nvPr/>
        </p:nvSpPr>
        <p:spPr>
          <a:xfrm>
            <a:off x="10012680" y="5285232"/>
            <a:ext cx="1508760" cy="182880"/>
          </a:xfrm>
          <a:prstGeom prst="rect">
            <a:avLst/>
          </a:prstGeom>
          <a:noFill/>
        </p:spPr>
        <p:txBody>
          <a:bodyPr wrap="square" lIns="0" rIns="0" tIns="0" bIns="0">
            <a:spAutoFit/>
          </a:bodyPr>
          <a:lstStyle/>
          <a:p>
            <a:pPr algn="l">
              <a:lnSpc>
                <a:spcPct val="100000"/>
              </a:lnSpc>
            </a:pPr>
            <a:r>
              <a:rPr sz="620" b="0" i="0">
                <a:solidFill>
                  <a:srgbClr val="5F7875"/>
                </a:solidFill>
                <a:latin typeface="SF Mono"/>
              </a:rPr>
              <a:t>Review · issues · BCF 3.0</a:t>
            </a:r>
          </a:p>
        </p:txBody>
      </p:sp>
      <p:sp>
        <p:nvSpPr>
          <p:cNvPr id="25" name="TextBox 24"/>
          <p:cNvSpPr txBox="1"/>
          <p:nvPr/>
        </p:nvSpPr>
        <p:spPr>
          <a:xfrm>
            <a:off x="7790688" y="5760720"/>
            <a:ext cx="3657600" cy="320040"/>
          </a:xfrm>
          <a:prstGeom prst="rect">
            <a:avLst/>
          </a:prstGeom>
          <a:noFill/>
        </p:spPr>
        <p:txBody>
          <a:bodyPr wrap="square" lIns="0" rIns="0" tIns="0" bIns="0">
            <a:spAutoFit/>
          </a:bodyPr>
          <a:lstStyle/>
          <a:p>
            <a:pPr algn="l">
              <a:lnSpc>
                <a:spcPct val="100000"/>
              </a:lnSpc>
            </a:pPr>
            <a:r>
              <a:rPr sz="720" b="0" i="0">
                <a:solidFill>
                  <a:srgbClr val="53F0BE"/>
                </a:solidFill>
                <a:latin typeface="SF Mono"/>
              </a:rPr>
              <a:t>Proptech.AI · access, visitors, occupancy, people counting</a:t>
            </a:r>
          </a:p>
        </p:txBody>
      </p:sp>
      <p:sp>
        <p:nvSpPr>
          <p:cNvPr id="26" name="TextBox 25"/>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27" name="TextBox 26"/>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10  /  CONSTRUCTION</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800" b="1" i="0">
                <a:solidFill>
                  <a:srgbClr val="EAF2F0"/>
                </a:solidFill>
                <a:latin typeface="Helvetica Neue"/>
              </a:rPr>
              <a:t>Every movement, choreographed.</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730" b="0" i="0">
                <a:solidFill>
                  <a:srgbClr val="8AA6A0"/>
                </a:solidFill>
                <a:latin typeface="Helvetica Neue"/>
              </a:rPr>
              <a:t>Construction technology from 4D sequence and reality capture to safety geofences, site logistics and earned value.</a:t>
            </a:r>
          </a:p>
        </p:txBody>
      </p:sp>
      <p:pic>
        <p:nvPicPr>
          <p:cNvPr id="6" name="Picture 5" descr="construction.jpg"/>
          <p:cNvPicPr>
            <a:picLocks noChangeAspect="1"/>
          </p:cNvPicPr>
          <p:nvPr/>
        </p:nvPicPr>
        <p:blipFill>
          <a:blip r:embed="rId2"/>
          <a:stretch>
            <a:fillRect/>
          </a:stretch>
        </p:blipFill>
        <p:spPr>
          <a:xfrm>
            <a:off x="502920" y="2331720"/>
            <a:ext cx="7315200" cy="3931920"/>
          </a:xfrm>
          <a:prstGeom prst="rect">
            <a:avLst/>
          </a:prstGeom>
          <a:ln w="12700">
            <a:solidFill>
              <a:srgbClr val="1B2C33"/>
            </a:solidFill>
          </a:ln>
        </p:spPr>
      </p:pic>
      <p:sp>
        <p:nvSpPr>
          <p:cNvPr id="7" name="TextBox 6"/>
          <p:cNvSpPr txBox="1"/>
          <p:nvPr/>
        </p:nvSpPr>
        <p:spPr>
          <a:xfrm>
            <a:off x="8092440" y="2377440"/>
            <a:ext cx="3566160" cy="3200400"/>
          </a:xfrm>
          <a:prstGeom prst="rect">
            <a:avLst/>
          </a:prstGeom>
          <a:noFill/>
        </p:spPr>
        <p:txBody>
          <a:bodyPr wrap="square" lIns="0" rIns="0" tIns="0" bIns="0">
            <a:spAutoFit/>
          </a:bodyPr>
          <a:lstStyle/>
          <a:p>
            <a:pPr>
              <a:lnSpc>
                <a:spcPct val="115000"/>
              </a:lnSpc>
              <a:spcAft>
                <a:spcPts val="700"/>
              </a:spcAft>
            </a:pPr>
            <a:r>
              <a:rPr sz="550">
                <a:solidFill>
                  <a:srgbClr val="53F0BE"/>
                </a:solidFill>
                <a:latin typeface="Helvetica Neue"/>
              </a:rPr>
              <a:t>●  </a:t>
            </a:r>
            <a:r>
              <a:rPr sz="869">
                <a:solidFill>
                  <a:srgbClr val="8AA6A0"/>
                </a:solidFill>
                <a:latin typeface="Helvetica Neue"/>
              </a:rPr>
              <a:t>4D sequence: mobilise, piling, substructure, superstructure, fit-out.</a:t>
            </a:r>
          </a:p>
          <a:p>
            <a:pPr>
              <a:lnSpc>
                <a:spcPct val="115000"/>
              </a:lnSpc>
              <a:spcAft>
                <a:spcPts val="700"/>
              </a:spcAft>
            </a:pPr>
            <a:r>
              <a:rPr sz="550">
                <a:solidFill>
                  <a:srgbClr val="53F0BE"/>
                </a:solidFill>
                <a:latin typeface="Helvetica Neue"/>
              </a:rPr>
              <a:t>●  </a:t>
            </a:r>
            <a:r>
              <a:rPr sz="869">
                <a:solidFill>
                  <a:srgbClr val="8AA6A0"/>
                </a:solidFill>
                <a:latin typeface="Helvetica Neue"/>
              </a:rPr>
              <a:t>Reality capture and BIM-to-field deviation checks.</a:t>
            </a:r>
          </a:p>
          <a:p>
            <a:pPr>
              <a:lnSpc>
                <a:spcPct val="115000"/>
              </a:lnSpc>
              <a:spcAft>
                <a:spcPts val="700"/>
              </a:spcAft>
            </a:pPr>
            <a:r>
              <a:rPr sz="550">
                <a:solidFill>
                  <a:srgbClr val="53F0BE"/>
                </a:solidFill>
                <a:latin typeface="Helvetica Neue"/>
              </a:rPr>
              <a:t>●  </a:t>
            </a:r>
            <a:r>
              <a:rPr sz="869">
                <a:solidFill>
                  <a:srgbClr val="8AA6A0"/>
                </a:solidFill>
                <a:latin typeface="Helvetica Neue"/>
              </a:rPr>
              <a:t>Safety geofences, lifting zones, permits and workforce access.</a:t>
            </a:r>
          </a:p>
          <a:p>
            <a:pPr>
              <a:lnSpc>
                <a:spcPct val="115000"/>
              </a:lnSpc>
              <a:spcAft>
                <a:spcPts val="700"/>
              </a:spcAft>
            </a:pPr>
            <a:r>
              <a:rPr sz="550">
                <a:solidFill>
                  <a:srgbClr val="53F0BE"/>
                </a:solidFill>
                <a:latin typeface="Helvetica Neue"/>
              </a:rPr>
              <a:t>●  </a:t>
            </a:r>
            <a:r>
              <a:rPr sz="869">
                <a:solidFill>
                  <a:srgbClr val="8AA6A0"/>
                </a:solidFill>
                <a:latin typeface="Helvetica Neue"/>
              </a:rPr>
              <a:t>Site logistics, deliveries, laydown and crane planning.</a:t>
            </a:r>
          </a:p>
          <a:p>
            <a:pPr>
              <a:lnSpc>
                <a:spcPct val="115000"/>
              </a:lnSpc>
              <a:spcAft>
                <a:spcPts val="700"/>
              </a:spcAft>
            </a:pPr>
            <a:r>
              <a:rPr sz="550">
                <a:solidFill>
                  <a:srgbClr val="53F0BE"/>
                </a:solidFill>
                <a:latin typeface="Helvetica Neue"/>
              </a:rPr>
              <a:t>●  </a:t>
            </a:r>
            <a:r>
              <a:rPr sz="869">
                <a:solidFill>
                  <a:srgbClr val="8AA6A0"/>
                </a:solidFill>
                <a:latin typeface="Helvetica Neue"/>
              </a:rPr>
              <a:t>5D earned value, productivity and recovery scenarios.</a:t>
            </a:r>
          </a:p>
        </p:txBody>
      </p:sp>
      <p:sp>
        <p:nvSpPr>
          <p:cNvPr id="8" name="Rounded Rectangle 7"/>
          <p:cNvSpPr/>
          <p:nvPr/>
        </p:nvSpPr>
        <p:spPr>
          <a:xfrm>
            <a:off x="8092440" y="5715000"/>
            <a:ext cx="141732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53F0BE"/>
                </a:solidFill>
                <a:latin typeface="SF Mono"/>
              </a:rPr>
              <a:t>4D · 5D</a:t>
            </a:r>
          </a:p>
        </p:txBody>
      </p:sp>
      <p:sp>
        <p:nvSpPr>
          <p:cNvPr id="9" name="Rounded Rectangle 8"/>
          <p:cNvSpPr/>
          <p:nvPr/>
        </p:nvSpPr>
        <p:spPr>
          <a:xfrm>
            <a:off x="9646920" y="5715000"/>
            <a:ext cx="182880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F4BD72"/>
                </a:solidFill>
                <a:latin typeface="SF Mono"/>
              </a:rPr>
              <a:t>FIELD · SAFETY</a:t>
            </a:r>
          </a:p>
        </p:txBody>
      </p:sp>
      <p:sp>
        <p:nvSpPr>
          <p:cNvPr id="10" name="TextBox 9"/>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11" name="TextBox 10"/>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11  /  ENGINEERING</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700" b="1" i="0">
                <a:solidFill>
                  <a:srgbClr val="EAF2F0"/>
                </a:solidFill>
                <a:latin typeface="Helvetica Neue"/>
              </a:rPr>
              <a:t>The structure is part of the operating picture.</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1180" b="0" i="0">
                <a:solidFill>
                  <a:srgbClr val="8AA6A0"/>
                </a:solidFill>
                <a:latin typeface="Helvetica Neue"/>
              </a:rPr>
              <a:t>Structural, geotechnical, facade, seismic and acoustic engineering views share the same asset and the same evidence model.</a:t>
            </a:r>
          </a:p>
        </p:txBody>
      </p:sp>
      <p:pic>
        <p:nvPicPr>
          <p:cNvPr id="6" name="Picture 5" descr="engineering.jpg"/>
          <p:cNvPicPr>
            <a:picLocks noChangeAspect="1"/>
          </p:cNvPicPr>
          <p:nvPr/>
        </p:nvPicPr>
        <p:blipFill>
          <a:blip r:embed="rId2"/>
          <a:stretch>
            <a:fillRect/>
          </a:stretch>
        </p:blipFill>
        <p:spPr>
          <a:xfrm>
            <a:off x="502920" y="2240280"/>
            <a:ext cx="5486400" cy="3520440"/>
          </a:xfrm>
          <a:prstGeom prst="rect">
            <a:avLst/>
          </a:prstGeom>
          <a:ln w="12700">
            <a:solidFill>
              <a:srgbClr val="1B2C33"/>
            </a:solidFill>
          </a:ln>
        </p:spPr>
      </p:pic>
      <p:pic>
        <p:nvPicPr>
          <p:cNvPr id="7" name="Picture 6" descr="facade.jpg"/>
          <p:cNvPicPr>
            <a:picLocks noChangeAspect="1"/>
          </p:cNvPicPr>
          <p:nvPr/>
        </p:nvPicPr>
        <p:blipFill>
          <a:blip r:embed="rId3"/>
          <a:stretch>
            <a:fillRect/>
          </a:stretch>
        </p:blipFill>
        <p:spPr>
          <a:xfrm>
            <a:off x="6126480" y="2240280"/>
            <a:ext cx="5532120" cy="3520440"/>
          </a:xfrm>
          <a:prstGeom prst="rect">
            <a:avLst/>
          </a:prstGeom>
          <a:ln w="12700">
            <a:solidFill>
              <a:srgbClr val="1B2C33"/>
            </a:solidFill>
          </a:ln>
        </p:spPr>
      </p:pic>
      <p:sp>
        <p:nvSpPr>
          <p:cNvPr id="8" name="Rounded Rectangle 7"/>
          <p:cNvSpPr/>
          <p:nvPr/>
        </p:nvSpPr>
        <p:spPr>
          <a:xfrm>
            <a:off x="502920" y="5852160"/>
            <a:ext cx="5532120" cy="50292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916168"/>
            <a:ext cx="1554480" cy="182880"/>
          </a:xfrm>
          <a:prstGeom prst="rect">
            <a:avLst/>
          </a:prstGeom>
          <a:noFill/>
        </p:spPr>
        <p:txBody>
          <a:bodyPr wrap="square" lIns="0" rIns="0" tIns="0" bIns="0">
            <a:spAutoFit/>
          </a:bodyPr>
          <a:lstStyle/>
          <a:p>
            <a:pPr algn="l">
              <a:lnSpc>
                <a:spcPct val="100000"/>
              </a:lnSpc>
            </a:pPr>
            <a:r>
              <a:rPr sz="670" b="1" i="0">
                <a:solidFill>
                  <a:srgbClr val="53F0BE"/>
                </a:solidFill>
                <a:latin typeface="SF Mono"/>
              </a:rPr>
              <a:t>STRUCTURAL / CIVIL</a:t>
            </a:r>
          </a:p>
        </p:txBody>
      </p:sp>
      <p:sp>
        <p:nvSpPr>
          <p:cNvPr id="10" name="TextBox 9"/>
          <p:cNvSpPr txBox="1"/>
          <p:nvPr/>
        </p:nvSpPr>
        <p:spPr>
          <a:xfrm>
            <a:off x="2194560" y="5916168"/>
            <a:ext cx="3703320" cy="182880"/>
          </a:xfrm>
          <a:prstGeom prst="rect">
            <a:avLst/>
          </a:prstGeom>
          <a:noFill/>
        </p:spPr>
        <p:txBody>
          <a:bodyPr wrap="square" lIns="0" rIns="0" tIns="0" bIns="0">
            <a:spAutoFit/>
          </a:bodyPr>
          <a:lstStyle/>
          <a:p>
            <a:pPr algn="l">
              <a:lnSpc>
                <a:spcPct val="100000"/>
              </a:lnSpc>
            </a:pPr>
            <a:r>
              <a:rPr sz="700" b="0" i="0">
                <a:solidFill>
                  <a:srgbClr val="8AA6A0"/>
                </a:solidFill>
                <a:latin typeface="Helvetica Neue"/>
              </a:rPr>
              <a:t>Load cases, utilisation, deflection, pile settlement and bridge monitoring.</a:t>
            </a:r>
          </a:p>
        </p:txBody>
      </p:sp>
      <p:sp>
        <p:nvSpPr>
          <p:cNvPr id="11" name="Rounded Rectangle 10"/>
          <p:cNvSpPr/>
          <p:nvPr/>
        </p:nvSpPr>
        <p:spPr>
          <a:xfrm>
            <a:off x="6126480" y="5852160"/>
            <a:ext cx="5532120" cy="50292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5916168"/>
            <a:ext cx="1554480" cy="182880"/>
          </a:xfrm>
          <a:prstGeom prst="rect">
            <a:avLst/>
          </a:prstGeom>
          <a:noFill/>
        </p:spPr>
        <p:txBody>
          <a:bodyPr wrap="square" lIns="0" rIns="0" tIns="0" bIns="0">
            <a:spAutoFit/>
          </a:bodyPr>
          <a:lstStyle/>
          <a:p>
            <a:pPr algn="l">
              <a:lnSpc>
                <a:spcPct val="100000"/>
              </a:lnSpc>
            </a:pPr>
            <a:r>
              <a:rPr sz="670" b="1" i="0">
                <a:solidFill>
                  <a:srgbClr val="53F0BE"/>
                </a:solidFill>
                <a:latin typeface="SF Mono"/>
              </a:rPr>
              <a:t>FACADE LAB</a:t>
            </a:r>
          </a:p>
        </p:txBody>
      </p:sp>
      <p:sp>
        <p:nvSpPr>
          <p:cNvPr id="13" name="TextBox 12"/>
          <p:cNvSpPr txBox="1"/>
          <p:nvPr/>
        </p:nvSpPr>
        <p:spPr>
          <a:xfrm>
            <a:off x="7818120" y="5916168"/>
            <a:ext cx="3703320" cy="182880"/>
          </a:xfrm>
          <a:prstGeom prst="rect">
            <a:avLst/>
          </a:prstGeom>
          <a:noFill/>
        </p:spPr>
        <p:txBody>
          <a:bodyPr wrap="square" lIns="0" rIns="0" tIns="0" bIns="0">
            <a:spAutoFit/>
          </a:bodyPr>
          <a:lstStyle/>
          <a:p>
            <a:pPr algn="l">
              <a:lnSpc>
                <a:spcPct val="100000"/>
              </a:lnSpc>
            </a:pPr>
            <a:r>
              <a:rPr sz="700" b="0" i="0">
                <a:solidFill>
                  <a:srgbClr val="8AA6A0"/>
                </a:solidFill>
                <a:latin typeface="Helvetica Neue"/>
              </a:rPr>
              <a:t>Thermal, structural, water and installation performance of the unitised envelope.</a:t>
            </a:r>
          </a:p>
        </p:txBody>
      </p:sp>
      <p:sp>
        <p:nvSpPr>
          <p:cNvPr id="14" name="TextBox 13"/>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15" name="TextBox 14"/>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12  /  SMART CITY</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800" b="1" i="0">
                <a:solidFill>
                  <a:srgbClr val="EAF2F0"/>
                </a:solidFill>
                <a:latin typeface="Helvetica Neue"/>
              </a:rPr>
              <a:t>Move the city, not just the traffic.</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1180" b="0" i="0">
                <a:solidFill>
                  <a:srgbClr val="8AA6A0"/>
                </a:solidFill>
                <a:latin typeface="Helvetica Neue"/>
              </a:rPr>
              <a:t>Adaptive junctions, autonomous shuttle loops, transit, curbside management and carbon-aware mode shift in one mobility twin.</a:t>
            </a:r>
          </a:p>
        </p:txBody>
      </p:sp>
      <p:pic>
        <p:nvPicPr>
          <p:cNvPr id="6" name="Picture 5" descr="traffic.jpg"/>
          <p:cNvPicPr>
            <a:picLocks noChangeAspect="1"/>
          </p:cNvPicPr>
          <p:nvPr/>
        </p:nvPicPr>
        <p:blipFill>
          <a:blip r:embed="rId2"/>
          <a:stretch>
            <a:fillRect/>
          </a:stretch>
        </p:blipFill>
        <p:spPr>
          <a:xfrm>
            <a:off x="502920" y="2194560"/>
            <a:ext cx="5532120" cy="3474720"/>
          </a:xfrm>
          <a:prstGeom prst="rect">
            <a:avLst/>
          </a:prstGeom>
          <a:ln w="12700">
            <a:solidFill>
              <a:srgbClr val="1B2C33"/>
            </a:solidFill>
          </a:ln>
        </p:spPr>
      </p:pic>
      <p:pic>
        <p:nvPicPr>
          <p:cNvPr id="7" name="Picture 6" descr="mobility.jpg"/>
          <p:cNvPicPr>
            <a:picLocks noChangeAspect="1"/>
          </p:cNvPicPr>
          <p:nvPr/>
        </p:nvPicPr>
        <p:blipFill>
          <a:blip r:embed="rId3"/>
          <a:stretch>
            <a:fillRect/>
          </a:stretch>
        </p:blipFill>
        <p:spPr>
          <a:xfrm>
            <a:off x="6126480" y="2194560"/>
            <a:ext cx="5532120" cy="3474720"/>
          </a:xfrm>
          <a:prstGeom prst="rect">
            <a:avLst/>
          </a:prstGeom>
          <a:ln w="12700">
            <a:solidFill>
              <a:srgbClr val="1B2C33"/>
            </a:solidFill>
          </a:ln>
        </p:spPr>
      </p:pic>
      <p:sp>
        <p:nvSpPr>
          <p:cNvPr id="8" name="Rounded Rectangle 7"/>
          <p:cNvSpPr/>
          <p:nvPr/>
        </p:nvSpPr>
        <p:spPr>
          <a:xfrm>
            <a:off x="502920" y="5760720"/>
            <a:ext cx="11155680" cy="566928"/>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852160"/>
            <a:ext cx="1188720" cy="164592"/>
          </a:xfrm>
          <a:prstGeom prst="rect">
            <a:avLst/>
          </a:prstGeom>
          <a:noFill/>
        </p:spPr>
        <p:txBody>
          <a:bodyPr wrap="square" lIns="0" rIns="0" tIns="0" bIns="0">
            <a:spAutoFit/>
          </a:bodyPr>
          <a:lstStyle/>
          <a:p>
            <a:pPr algn="l">
              <a:lnSpc>
                <a:spcPct val="100000"/>
              </a:lnSpc>
            </a:pPr>
            <a:r>
              <a:rPr sz="640" b="1" i="0">
                <a:solidFill>
                  <a:srgbClr val="53F0BE"/>
                </a:solidFill>
                <a:latin typeface="SF Mono"/>
              </a:rPr>
              <a:t>ADAPTIVE SIGNALS</a:t>
            </a:r>
          </a:p>
        </p:txBody>
      </p:sp>
      <p:sp>
        <p:nvSpPr>
          <p:cNvPr id="10" name="TextBox 9"/>
          <p:cNvSpPr txBox="1"/>
          <p:nvPr/>
        </p:nvSpPr>
        <p:spPr>
          <a:xfrm>
            <a:off x="658368" y="6016752"/>
            <a:ext cx="2560320" cy="182880"/>
          </a:xfrm>
          <a:prstGeom prst="rect">
            <a:avLst/>
          </a:prstGeom>
          <a:noFill/>
        </p:spPr>
        <p:txBody>
          <a:bodyPr wrap="square" lIns="0" rIns="0" tIns="0" bIns="0">
            <a:spAutoFit/>
          </a:bodyPr>
          <a:lstStyle/>
          <a:p>
            <a:pPr algn="l">
              <a:lnSpc>
                <a:spcPct val="100000"/>
              </a:lnSpc>
            </a:pPr>
            <a:r>
              <a:rPr sz="720" b="0" i="0">
                <a:solidFill>
                  <a:srgbClr val="8AA6A0"/>
                </a:solidFill>
                <a:latin typeface="Helvetica Neue"/>
              </a:rPr>
              <a:t>42 s delay · 180 m queue</a:t>
            </a:r>
          </a:p>
        </p:txBody>
      </p:sp>
      <p:sp>
        <p:nvSpPr>
          <p:cNvPr id="11" name="TextBox 10"/>
          <p:cNvSpPr txBox="1"/>
          <p:nvPr/>
        </p:nvSpPr>
        <p:spPr>
          <a:xfrm>
            <a:off x="3419856" y="5852160"/>
            <a:ext cx="1188720" cy="164592"/>
          </a:xfrm>
          <a:prstGeom prst="rect">
            <a:avLst/>
          </a:prstGeom>
          <a:noFill/>
        </p:spPr>
        <p:txBody>
          <a:bodyPr wrap="square" lIns="0" rIns="0" tIns="0" bIns="0">
            <a:spAutoFit/>
          </a:bodyPr>
          <a:lstStyle/>
          <a:p>
            <a:pPr algn="l">
              <a:lnSpc>
                <a:spcPct val="100000"/>
              </a:lnSpc>
            </a:pPr>
            <a:r>
              <a:rPr sz="640" b="1" i="0">
                <a:solidFill>
                  <a:srgbClr val="53F0BE"/>
                </a:solidFill>
                <a:latin typeface="SF Mono"/>
              </a:rPr>
              <a:t>AV LOOP</a:t>
            </a:r>
          </a:p>
        </p:txBody>
      </p:sp>
      <p:sp>
        <p:nvSpPr>
          <p:cNvPr id="12" name="TextBox 11"/>
          <p:cNvSpPr txBox="1"/>
          <p:nvPr/>
        </p:nvSpPr>
        <p:spPr>
          <a:xfrm>
            <a:off x="3419856" y="6016752"/>
            <a:ext cx="2560320" cy="182880"/>
          </a:xfrm>
          <a:prstGeom prst="rect">
            <a:avLst/>
          </a:prstGeom>
          <a:noFill/>
        </p:spPr>
        <p:txBody>
          <a:bodyPr wrap="square" lIns="0" rIns="0" tIns="0" bIns="0">
            <a:spAutoFit/>
          </a:bodyPr>
          <a:lstStyle/>
          <a:p>
            <a:pPr algn="l">
              <a:lnSpc>
                <a:spcPct val="100000"/>
              </a:lnSpc>
            </a:pPr>
            <a:r>
              <a:rPr sz="720" b="0" i="0">
                <a:solidFill>
                  <a:srgbClr val="8AA6A0"/>
                </a:solidFill>
                <a:latin typeface="Helvetica Neue"/>
              </a:rPr>
              <a:t>12 stops · remote supervisor</a:t>
            </a:r>
          </a:p>
        </p:txBody>
      </p:sp>
      <p:sp>
        <p:nvSpPr>
          <p:cNvPr id="13" name="TextBox 12"/>
          <p:cNvSpPr txBox="1"/>
          <p:nvPr/>
        </p:nvSpPr>
        <p:spPr>
          <a:xfrm>
            <a:off x="6181344" y="5852160"/>
            <a:ext cx="1188720" cy="164592"/>
          </a:xfrm>
          <a:prstGeom prst="rect">
            <a:avLst/>
          </a:prstGeom>
          <a:noFill/>
        </p:spPr>
        <p:txBody>
          <a:bodyPr wrap="square" lIns="0" rIns="0" tIns="0" bIns="0">
            <a:spAutoFit/>
          </a:bodyPr>
          <a:lstStyle/>
          <a:p>
            <a:pPr algn="l">
              <a:lnSpc>
                <a:spcPct val="100000"/>
              </a:lnSpc>
            </a:pPr>
            <a:r>
              <a:rPr sz="640" b="1" i="0">
                <a:solidFill>
                  <a:srgbClr val="53F0BE"/>
                </a:solidFill>
                <a:latin typeface="SF Mono"/>
              </a:rPr>
              <a:t>MODE SHARE</a:t>
            </a:r>
          </a:p>
        </p:txBody>
      </p:sp>
      <p:sp>
        <p:nvSpPr>
          <p:cNvPr id="14" name="TextBox 13"/>
          <p:cNvSpPr txBox="1"/>
          <p:nvPr/>
        </p:nvSpPr>
        <p:spPr>
          <a:xfrm>
            <a:off x="6181344" y="6016752"/>
            <a:ext cx="2560320" cy="182880"/>
          </a:xfrm>
          <a:prstGeom prst="rect">
            <a:avLst/>
          </a:prstGeom>
          <a:noFill/>
        </p:spPr>
        <p:txBody>
          <a:bodyPr wrap="square" lIns="0" rIns="0" tIns="0" bIns="0">
            <a:spAutoFit/>
          </a:bodyPr>
          <a:lstStyle/>
          <a:p>
            <a:pPr algn="l">
              <a:lnSpc>
                <a:spcPct val="100000"/>
              </a:lnSpc>
            </a:pPr>
            <a:r>
              <a:rPr sz="720" b="0" i="0">
                <a:solidFill>
                  <a:srgbClr val="8AA6A0"/>
                </a:solidFill>
                <a:latin typeface="Helvetica Neue"/>
              </a:rPr>
              <a:t>36% rail · 18% AV</a:t>
            </a:r>
          </a:p>
        </p:txBody>
      </p:sp>
      <p:sp>
        <p:nvSpPr>
          <p:cNvPr id="15" name="TextBox 14"/>
          <p:cNvSpPr txBox="1"/>
          <p:nvPr/>
        </p:nvSpPr>
        <p:spPr>
          <a:xfrm>
            <a:off x="8942832" y="5852160"/>
            <a:ext cx="1188720" cy="164592"/>
          </a:xfrm>
          <a:prstGeom prst="rect">
            <a:avLst/>
          </a:prstGeom>
          <a:noFill/>
        </p:spPr>
        <p:txBody>
          <a:bodyPr wrap="square" lIns="0" rIns="0" tIns="0" bIns="0">
            <a:spAutoFit/>
          </a:bodyPr>
          <a:lstStyle/>
          <a:p>
            <a:pPr algn="l">
              <a:lnSpc>
                <a:spcPct val="100000"/>
              </a:lnSpc>
            </a:pPr>
            <a:r>
              <a:rPr sz="640" b="1" i="0">
                <a:solidFill>
                  <a:srgbClr val="53F0BE"/>
                </a:solidFill>
                <a:latin typeface="SF Mono"/>
              </a:rPr>
              <a:t>CARBON</a:t>
            </a:r>
          </a:p>
        </p:txBody>
      </p:sp>
      <p:sp>
        <p:nvSpPr>
          <p:cNvPr id="16" name="TextBox 15"/>
          <p:cNvSpPr txBox="1"/>
          <p:nvPr/>
        </p:nvSpPr>
        <p:spPr>
          <a:xfrm>
            <a:off x="8942832" y="6016752"/>
            <a:ext cx="2560320" cy="182880"/>
          </a:xfrm>
          <a:prstGeom prst="rect">
            <a:avLst/>
          </a:prstGeom>
          <a:noFill/>
        </p:spPr>
        <p:txBody>
          <a:bodyPr wrap="square" lIns="0" rIns="0" tIns="0" bIns="0">
            <a:spAutoFit/>
          </a:bodyPr>
          <a:lstStyle/>
          <a:p>
            <a:pPr algn="l">
              <a:lnSpc>
                <a:spcPct val="100000"/>
              </a:lnSpc>
            </a:pPr>
            <a:r>
              <a:rPr sz="720" b="0" i="0">
                <a:solidFill>
                  <a:srgbClr val="8AA6A0"/>
                </a:solidFill>
                <a:latin typeface="Helvetica Neue"/>
              </a:rPr>
              <a:t>42 g CO₂e per trip</a:t>
            </a:r>
          </a:p>
        </p:txBody>
      </p:sp>
      <p:sp>
        <p:nvSpPr>
          <p:cNvPr id="17" name="TextBox 16"/>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18" name="TextBox 17"/>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13  /  PHOTOREAL VEHICLES</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800" b="1" i="0">
                <a:solidFill>
                  <a:srgbClr val="EAF2F0"/>
                </a:solidFill>
                <a:latin typeface="Helvetica Neue"/>
              </a:rPr>
              <a:t>Cars that look like cars, not boxes.</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730" b="0" i="0">
                <a:solidFill>
                  <a:srgbClr val="8AA6A0"/>
                </a:solidFill>
                <a:latin typeface="Helvetica Neue"/>
              </a:rPr>
              <a:t>The showroom and EV hub use a production-style glTF vehicle: 97 meshes, 14 textures, clear-coat paint, glass, interiors, brakes and lights.</a:t>
            </a:r>
          </a:p>
        </p:txBody>
      </p:sp>
      <p:pic>
        <p:nvPicPr>
          <p:cNvPr id="6" name="Picture 5" descr="vehicles.jpg"/>
          <p:cNvPicPr>
            <a:picLocks noChangeAspect="1"/>
          </p:cNvPicPr>
          <p:nvPr/>
        </p:nvPicPr>
        <p:blipFill>
          <a:blip r:embed="rId2"/>
          <a:stretch>
            <a:fillRect/>
          </a:stretch>
        </p:blipFill>
        <p:spPr>
          <a:xfrm>
            <a:off x="502920" y="2331720"/>
            <a:ext cx="7315200" cy="3931920"/>
          </a:xfrm>
          <a:prstGeom prst="rect">
            <a:avLst/>
          </a:prstGeom>
          <a:ln w="12700">
            <a:solidFill>
              <a:srgbClr val="1B2C33"/>
            </a:solidFill>
          </a:ln>
        </p:spPr>
      </p:pic>
      <p:sp>
        <p:nvSpPr>
          <p:cNvPr id="7" name="TextBox 6"/>
          <p:cNvSpPr txBox="1"/>
          <p:nvPr/>
        </p:nvSpPr>
        <p:spPr>
          <a:xfrm>
            <a:off x="8092440" y="2377440"/>
            <a:ext cx="3566160" cy="3246120"/>
          </a:xfrm>
          <a:prstGeom prst="rect">
            <a:avLst/>
          </a:prstGeom>
          <a:noFill/>
        </p:spPr>
        <p:txBody>
          <a:bodyPr wrap="square" lIns="0" rIns="0" tIns="0" bIns="0">
            <a:spAutoFit/>
          </a:bodyPr>
          <a:lstStyle/>
          <a:p>
            <a:pPr>
              <a:lnSpc>
                <a:spcPct val="115000"/>
              </a:lnSpc>
              <a:spcAft>
                <a:spcPts val="700"/>
              </a:spcAft>
            </a:pPr>
            <a:r>
              <a:rPr sz="550">
                <a:solidFill>
                  <a:srgbClr val="53F0BE"/>
                </a:solidFill>
                <a:latin typeface="Helvetica Neue"/>
              </a:rPr>
              <a:t>●  </a:t>
            </a:r>
            <a:r>
              <a:rPr sz="860">
                <a:solidFill>
                  <a:srgbClr val="8AA6A0"/>
                </a:solidFill>
                <a:latin typeface="Helvetica Neue"/>
              </a:rPr>
              <a:t>Photoreal CarConcept model in the showroom and EV hub.</a:t>
            </a:r>
          </a:p>
          <a:p>
            <a:pPr>
              <a:lnSpc>
                <a:spcPct val="115000"/>
              </a:lnSpc>
              <a:spcAft>
                <a:spcPts val="700"/>
              </a:spcAft>
            </a:pPr>
            <a:r>
              <a:rPr sz="550">
                <a:solidFill>
                  <a:srgbClr val="53F0BE"/>
                </a:solidFill>
                <a:latin typeface="Helvetica Neue"/>
              </a:rPr>
              <a:t>●  </a:t>
            </a:r>
            <a:r>
              <a:rPr sz="860">
                <a:solidFill>
                  <a:srgbClr val="8AA6A0"/>
                </a:solidFill>
                <a:latin typeface="Helvetica Neue"/>
              </a:rPr>
              <a:t>Five camera views: exterior, profile, rear, interior, wheels.</a:t>
            </a:r>
          </a:p>
          <a:p>
            <a:pPr>
              <a:lnSpc>
                <a:spcPct val="115000"/>
              </a:lnSpc>
              <a:spcAft>
                <a:spcPts val="700"/>
              </a:spcAft>
            </a:pPr>
            <a:r>
              <a:rPr sz="550">
                <a:solidFill>
                  <a:srgbClr val="53F0BE"/>
                </a:solidFill>
                <a:latin typeface="Helvetica Neue"/>
              </a:rPr>
              <a:t>●  </a:t>
            </a:r>
            <a:r>
              <a:rPr sz="860">
                <a:solidFill>
                  <a:srgbClr val="8AA6A0"/>
                </a:solidFill>
                <a:latin typeface="Helvetica Neue"/>
              </a:rPr>
              <a:t>Six paint finishes and three wheel finishes, editable live.</a:t>
            </a:r>
          </a:p>
          <a:p>
            <a:pPr>
              <a:lnSpc>
                <a:spcPct val="115000"/>
              </a:lnSpc>
              <a:spcAft>
                <a:spcPts val="700"/>
              </a:spcAft>
            </a:pPr>
            <a:r>
              <a:rPr sz="550">
                <a:solidFill>
                  <a:srgbClr val="53F0BE"/>
                </a:solidFill>
                <a:latin typeface="Helvetica Neue"/>
              </a:rPr>
              <a:t>●  </a:t>
            </a:r>
            <a:r>
              <a:rPr sz="860">
                <a:solidFill>
                  <a:srgbClr val="8AA6A0"/>
                </a:solidFill>
                <a:latin typeface="Helvetica Neue"/>
              </a:rPr>
              <a:t>Merged by material and cloned for traffic and mobility.</a:t>
            </a:r>
          </a:p>
          <a:p>
            <a:pPr>
              <a:lnSpc>
                <a:spcPct val="115000"/>
              </a:lnSpc>
              <a:spcAft>
                <a:spcPts val="700"/>
              </a:spcAft>
            </a:pPr>
            <a:r>
              <a:rPr sz="550">
                <a:solidFill>
                  <a:srgbClr val="53F0BE"/>
                </a:solidFill>
                <a:latin typeface="Helvetica Neue"/>
              </a:rPr>
              <a:t>●  </a:t>
            </a:r>
            <a:r>
              <a:rPr sz="860">
                <a:solidFill>
                  <a:srgbClr val="8AA6A0"/>
                </a:solidFill>
                <a:latin typeface="Helvetica Neue"/>
              </a:rPr>
              <a:t>11 MB asset loaded once; shared geometry and textures.</a:t>
            </a:r>
          </a:p>
        </p:txBody>
      </p:sp>
      <p:sp>
        <p:nvSpPr>
          <p:cNvPr id="8" name="Rounded Rectangle 7"/>
          <p:cNvSpPr/>
          <p:nvPr/>
        </p:nvSpPr>
        <p:spPr>
          <a:xfrm>
            <a:off x="8092440" y="5715000"/>
            <a:ext cx="141732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53F0BE"/>
                </a:solidFill>
                <a:latin typeface="SF Mono"/>
              </a:rPr>
              <a:t>97 MESHES</a:t>
            </a:r>
          </a:p>
        </p:txBody>
      </p:sp>
      <p:sp>
        <p:nvSpPr>
          <p:cNvPr id="9" name="Rounded Rectangle 8"/>
          <p:cNvSpPr/>
          <p:nvPr/>
        </p:nvSpPr>
        <p:spPr>
          <a:xfrm>
            <a:off x="9646920" y="5715000"/>
            <a:ext cx="182880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76C9C9"/>
                </a:solidFill>
                <a:latin typeface="SF Mono"/>
              </a:rPr>
              <a:t>CC BY 4.0</a:t>
            </a:r>
          </a:p>
        </p:txBody>
      </p:sp>
      <p:sp>
        <p:nvSpPr>
          <p:cNvPr id="10" name="TextBox 9"/>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11" name="TextBox 10"/>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14  /  ENERGY &amp; GRID</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800" b="1" i="0">
                <a:solidFill>
                  <a:srgbClr val="EAF2F0"/>
                </a:solidFill>
                <a:latin typeface="Helvetica Neue"/>
              </a:rPr>
              <a:t>Charge the fleet. Protect the grid.</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730" b="0" i="0">
                <a:solidFill>
                  <a:srgbClr val="8AA6A0"/>
                </a:solidFill>
                <a:latin typeface="Helvetica Neue"/>
              </a:rPr>
              <a:t>Microgrid operations, solar, BESS, EV charging, demand response and island mode, framed against Hong Kong grid and cybersecurity standards.</a:t>
            </a:r>
          </a:p>
        </p:txBody>
      </p:sp>
      <p:pic>
        <p:nvPicPr>
          <p:cNvPr id="6" name="Picture 5" descr="energy.jpg"/>
          <p:cNvPicPr>
            <a:picLocks noChangeAspect="1"/>
          </p:cNvPicPr>
          <p:nvPr/>
        </p:nvPicPr>
        <p:blipFill>
          <a:blip r:embed="rId2"/>
          <a:stretch>
            <a:fillRect/>
          </a:stretch>
        </p:blipFill>
        <p:spPr>
          <a:xfrm>
            <a:off x="502920" y="2331720"/>
            <a:ext cx="7315200" cy="3931920"/>
          </a:xfrm>
          <a:prstGeom prst="rect">
            <a:avLst/>
          </a:prstGeom>
          <a:ln w="12700">
            <a:solidFill>
              <a:srgbClr val="1B2C33"/>
            </a:solidFill>
          </a:ln>
        </p:spPr>
      </p:pic>
      <p:sp>
        <p:nvSpPr>
          <p:cNvPr id="7" name="TextBox 6"/>
          <p:cNvSpPr txBox="1"/>
          <p:nvPr/>
        </p:nvSpPr>
        <p:spPr>
          <a:xfrm>
            <a:off x="8092440" y="2377440"/>
            <a:ext cx="3566160" cy="3200400"/>
          </a:xfrm>
          <a:prstGeom prst="rect">
            <a:avLst/>
          </a:prstGeom>
          <a:noFill/>
        </p:spPr>
        <p:txBody>
          <a:bodyPr wrap="square" lIns="0" rIns="0" tIns="0" bIns="0">
            <a:spAutoFit/>
          </a:bodyPr>
          <a:lstStyle/>
          <a:p>
            <a:pPr>
              <a:lnSpc>
                <a:spcPct val="115000"/>
              </a:lnSpc>
              <a:spcAft>
                <a:spcPts val="700"/>
              </a:spcAft>
            </a:pPr>
            <a:r>
              <a:rPr sz="550">
                <a:solidFill>
                  <a:srgbClr val="53F0BE"/>
                </a:solidFill>
                <a:latin typeface="Helvetica Neue"/>
              </a:rPr>
              <a:t>●  </a:t>
            </a:r>
            <a:r>
              <a:rPr sz="860">
                <a:solidFill>
                  <a:srgbClr val="8AA6A0"/>
                </a:solidFill>
                <a:latin typeface="Helvetica Neue"/>
              </a:rPr>
              <a:t>CLP 11 kV connection, transformers and LV switchgear.</a:t>
            </a:r>
          </a:p>
          <a:p>
            <a:pPr>
              <a:lnSpc>
                <a:spcPct val="115000"/>
              </a:lnSpc>
              <a:spcAft>
                <a:spcPts val="700"/>
              </a:spcAft>
            </a:pPr>
            <a:r>
              <a:rPr sz="550">
                <a:solidFill>
                  <a:srgbClr val="53F0BE"/>
                </a:solidFill>
                <a:latin typeface="Helvetica Neue"/>
              </a:rPr>
              <a:t>●  </a:t>
            </a:r>
            <a:r>
              <a:rPr sz="860">
                <a:solidFill>
                  <a:srgbClr val="8AA6A0"/>
                </a:solidFill>
                <a:latin typeface="Helvetica Neue"/>
              </a:rPr>
              <a:t>Solar canopy, BESS, generators and data-centre load.</a:t>
            </a:r>
          </a:p>
          <a:p>
            <a:pPr>
              <a:lnSpc>
                <a:spcPct val="115000"/>
              </a:lnSpc>
              <a:spcAft>
                <a:spcPts val="700"/>
              </a:spcAft>
            </a:pPr>
            <a:r>
              <a:rPr sz="550">
                <a:solidFill>
                  <a:srgbClr val="53F0BE"/>
                </a:solidFill>
                <a:latin typeface="Helvetica Neue"/>
              </a:rPr>
              <a:t>●  </a:t>
            </a:r>
            <a:r>
              <a:rPr sz="860">
                <a:solidFill>
                  <a:srgbClr val="8AA6A0"/>
                </a:solidFill>
                <a:latin typeface="Helvetica Neue"/>
              </a:rPr>
              <a:t>Normal, peak-shave, island and carbon-sprint scenarios.</a:t>
            </a:r>
          </a:p>
          <a:p>
            <a:pPr>
              <a:lnSpc>
                <a:spcPct val="115000"/>
              </a:lnSpc>
              <a:spcAft>
                <a:spcPts val="700"/>
              </a:spcAft>
            </a:pPr>
            <a:r>
              <a:rPr sz="550">
                <a:solidFill>
                  <a:srgbClr val="53F0BE"/>
                </a:solidFill>
                <a:latin typeface="Helvetica Neue"/>
              </a:rPr>
              <a:t>●  </a:t>
            </a:r>
            <a:r>
              <a:rPr sz="860">
                <a:solidFill>
                  <a:srgbClr val="8AA6A0"/>
                </a:solidFill>
                <a:latin typeface="Helvetica Neue"/>
              </a:rPr>
              <a:t>Power quality, IEC 61850, IEC 62443 and HK grid compliance.</a:t>
            </a:r>
          </a:p>
          <a:p>
            <a:pPr>
              <a:lnSpc>
                <a:spcPct val="115000"/>
              </a:lnSpc>
              <a:spcAft>
                <a:spcPts val="700"/>
              </a:spcAft>
            </a:pPr>
            <a:r>
              <a:rPr sz="550">
                <a:solidFill>
                  <a:srgbClr val="53F0BE"/>
                </a:solidFill>
                <a:latin typeface="Helvetica Neue"/>
              </a:rPr>
              <a:t>●  </a:t>
            </a:r>
            <a:r>
              <a:rPr sz="860">
                <a:solidFill>
                  <a:srgbClr val="8AA6A0"/>
                </a:solidFill>
                <a:latin typeface="Helvetica Neue"/>
              </a:rPr>
              <a:t>EV hub load management and outage islanding.</a:t>
            </a:r>
          </a:p>
        </p:txBody>
      </p:sp>
      <p:sp>
        <p:nvSpPr>
          <p:cNvPr id="8" name="Rounded Rectangle 7"/>
          <p:cNvSpPr/>
          <p:nvPr/>
        </p:nvSpPr>
        <p:spPr>
          <a:xfrm>
            <a:off x="8092440" y="5715000"/>
            <a:ext cx="164592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53F0BE"/>
                </a:solidFill>
                <a:latin typeface="SF Mono"/>
              </a:rPr>
              <a:t>MICROGRID</a:t>
            </a:r>
          </a:p>
        </p:txBody>
      </p:sp>
      <p:sp>
        <p:nvSpPr>
          <p:cNvPr id="9" name="Rounded Rectangle 8"/>
          <p:cNvSpPr/>
          <p:nvPr/>
        </p:nvSpPr>
        <p:spPr>
          <a:xfrm>
            <a:off x="9875520" y="5715000"/>
            <a:ext cx="169164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76C9C9"/>
                </a:solidFill>
                <a:latin typeface="SF Mono"/>
              </a:rPr>
              <a:t>IEC 61850</a:t>
            </a:r>
          </a:p>
        </p:txBody>
      </p:sp>
      <p:sp>
        <p:nvSpPr>
          <p:cNvPr id="10" name="TextBox 9"/>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11" name="TextBox 10"/>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15  /  PROPTECH &amp; WORKPLACE</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800" b="1" i="0">
                <a:solidFill>
                  <a:srgbClr val="EAF2F0"/>
                </a:solidFill>
                <a:latin typeface="Helvetica Neue"/>
              </a:rPr>
              <a:t>The building as a service, not a lease.</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730" b="0" i="0">
                <a:solidFill>
                  <a:srgbClr val="8AA6A0"/>
                </a:solidFill>
                <a:latin typeface="Helvetica Neue"/>
              </a:rPr>
              <a:t>Leasing cutaways, floor-level rent roll, occupancy, tenant experience, certifications and green-lease clauses.</a:t>
            </a:r>
          </a:p>
        </p:txBody>
      </p:sp>
      <p:pic>
        <p:nvPicPr>
          <p:cNvPr id="6" name="Picture 5" descr="proptech.jpg"/>
          <p:cNvPicPr>
            <a:picLocks noChangeAspect="1"/>
          </p:cNvPicPr>
          <p:nvPr/>
        </p:nvPicPr>
        <p:blipFill>
          <a:blip r:embed="rId2"/>
          <a:stretch>
            <a:fillRect/>
          </a:stretch>
        </p:blipFill>
        <p:spPr>
          <a:xfrm>
            <a:off x="502920" y="2331720"/>
            <a:ext cx="7315200" cy="3931920"/>
          </a:xfrm>
          <a:prstGeom prst="rect">
            <a:avLst/>
          </a:prstGeom>
          <a:ln w="12700">
            <a:solidFill>
              <a:srgbClr val="1B2C33"/>
            </a:solidFill>
          </a:ln>
        </p:spPr>
      </p:pic>
      <p:sp>
        <p:nvSpPr>
          <p:cNvPr id="7" name="TextBox 6"/>
          <p:cNvSpPr txBox="1"/>
          <p:nvPr/>
        </p:nvSpPr>
        <p:spPr>
          <a:xfrm>
            <a:off x="8092440" y="2377440"/>
            <a:ext cx="3566160" cy="3154680"/>
          </a:xfrm>
          <a:prstGeom prst="rect">
            <a:avLst/>
          </a:prstGeom>
          <a:noFill/>
        </p:spPr>
        <p:txBody>
          <a:bodyPr wrap="square" lIns="0" rIns="0" tIns="0" bIns="0">
            <a:spAutoFit/>
          </a:bodyPr>
          <a:lstStyle/>
          <a:p>
            <a:pPr>
              <a:lnSpc>
                <a:spcPct val="115000"/>
              </a:lnSpc>
              <a:spcAft>
                <a:spcPts val="700"/>
              </a:spcAft>
            </a:pPr>
            <a:r>
              <a:rPr sz="550">
                <a:solidFill>
                  <a:srgbClr val="53F0BE"/>
                </a:solidFill>
                <a:latin typeface="Helvetica Neue"/>
              </a:rPr>
              <a:t>●  </a:t>
            </a:r>
            <a:r>
              <a:rPr sz="860">
                <a:solidFill>
                  <a:srgbClr val="8AA6A0"/>
                </a:solidFill>
                <a:latin typeface="Helvetica Neue"/>
              </a:rPr>
              <a:t>Floor-by-floor rent roll, vacancy and lease expiry.</a:t>
            </a:r>
          </a:p>
          <a:p>
            <a:pPr>
              <a:lnSpc>
                <a:spcPct val="115000"/>
              </a:lnSpc>
              <a:spcAft>
                <a:spcPts val="700"/>
              </a:spcAft>
            </a:pPr>
            <a:r>
              <a:rPr sz="550">
                <a:solidFill>
                  <a:srgbClr val="53F0BE"/>
                </a:solidFill>
                <a:latin typeface="Helvetica Neue"/>
              </a:rPr>
              <a:t>●  </a:t>
            </a:r>
            <a:r>
              <a:rPr sz="860">
                <a:solidFill>
                  <a:srgbClr val="8AA6A0"/>
                </a:solidFill>
                <a:latin typeface="Helvetica Neue"/>
              </a:rPr>
              <a:t>Space utilisation and tenant experience scores.</a:t>
            </a:r>
          </a:p>
          <a:p>
            <a:pPr>
              <a:lnSpc>
                <a:spcPct val="115000"/>
              </a:lnSpc>
              <a:spcAft>
                <a:spcPts val="700"/>
              </a:spcAft>
            </a:pPr>
            <a:r>
              <a:rPr sz="550">
                <a:solidFill>
                  <a:srgbClr val="53F0BE"/>
                </a:solidFill>
                <a:latin typeface="Helvetica Neue"/>
              </a:rPr>
              <a:t>●  </a:t>
            </a:r>
            <a:r>
              <a:rPr sz="860">
                <a:solidFill>
                  <a:srgbClr val="8AA6A0"/>
                </a:solidFill>
                <a:latin typeface="Helvetica Neue"/>
              </a:rPr>
              <a:t>Certifications: BEAM Plus, WELL, LEED and green leases.</a:t>
            </a:r>
          </a:p>
          <a:p>
            <a:pPr>
              <a:lnSpc>
                <a:spcPct val="115000"/>
              </a:lnSpc>
              <a:spcAft>
                <a:spcPts val="700"/>
              </a:spcAft>
            </a:pPr>
            <a:r>
              <a:rPr sz="550">
                <a:solidFill>
                  <a:srgbClr val="53F0BE"/>
                </a:solidFill>
                <a:latin typeface="Helvetica Neue"/>
              </a:rPr>
              <a:t>●  </a:t>
            </a:r>
            <a:r>
              <a:rPr sz="860">
                <a:solidFill>
                  <a:srgbClr val="8AA6A0"/>
                </a:solidFill>
                <a:latin typeface="Helvetica Neue"/>
              </a:rPr>
              <a:t>Workplace experience: booking, comfort and amenities.</a:t>
            </a:r>
          </a:p>
          <a:p>
            <a:pPr>
              <a:lnSpc>
                <a:spcPct val="115000"/>
              </a:lnSpc>
              <a:spcAft>
                <a:spcPts val="700"/>
              </a:spcAft>
            </a:pPr>
            <a:r>
              <a:rPr sz="550">
                <a:solidFill>
                  <a:srgbClr val="53F0BE"/>
                </a:solidFill>
                <a:latin typeface="Helvetica Neue"/>
              </a:rPr>
              <a:t>●  </a:t>
            </a:r>
            <a:r>
              <a:rPr sz="860">
                <a:solidFill>
                  <a:srgbClr val="8AA6A0"/>
                </a:solidFill>
                <a:latin typeface="Helvetica Neue"/>
              </a:rPr>
              <a:t>PropTech signals feed asset strategy and capital planning.</a:t>
            </a:r>
          </a:p>
        </p:txBody>
      </p:sp>
      <p:sp>
        <p:nvSpPr>
          <p:cNvPr id="8" name="Rounded Rectangle 7"/>
          <p:cNvSpPr/>
          <p:nvPr/>
        </p:nvSpPr>
        <p:spPr>
          <a:xfrm>
            <a:off x="8092440" y="5715000"/>
            <a:ext cx="150876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53F0BE"/>
                </a:solidFill>
                <a:latin typeface="SF Mono"/>
              </a:rPr>
              <a:t>BEAM PLUS</a:t>
            </a:r>
          </a:p>
        </p:txBody>
      </p:sp>
      <p:sp>
        <p:nvSpPr>
          <p:cNvPr id="9" name="Rounded Rectangle 8"/>
          <p:cNvSpPr/>
          <p:nvPr/>
        </p:nvSpPr>
        <p:spPr>
          <a:xfrm>
            <a:off x="9692640" y="5715000"/>
            <a:ext cx="182880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76C9C9"/>
                </a:solidFill>
                <a:latin typeface="SF Mono"/>
              </a:rPr>
              <a:t>GREEN LEASE</a:t>
            </a:r>
          </a:p>
        </p:txBody>
      </p:sp>
      <p:sp>
        <p:nvSpPr>
          <p:cNvPr id="10" name="TextBox 9"/>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11" name="TextBox 10"/>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16  /  COO COMMAND</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800" b="1" i="0">
                <a:solidFill>
                  <a:srgbClr val="EAF2F0"/>
                </a:solidFill>
                <a:latin typeface="Helvetica Neue"/>
              </a:rPr>
              <a:t>A council of agents, with human gates.</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730" b="0" i="0">
                <a:solidFill>
                  <a:srgbClr val="8AA6A0"/>
                </a:solidFill>
                <a:latin typeface="Helvetica Neue"/>
              </a:rPr>
              <a:t>Commercial, delivery, technology, finance, people and risk agents work from shared evidence; consequential steps stop for a human decision.</a:t>
            </a:r>
          </a:p>
        </p:txBody>
      </p:sp>
      <p:pic>
        <p:nvPicPr>
          <p:cNvPr id="6" name="Picture 5" descr="agents.jpg"/>
          <p:cNvPicPr>
            <a:picLocks noChangeAspect="1"/>
          </p:cNvPicPr>
          <p:nvPr/>
        </p:nvPicPr>
        <p:blipFill>
          <a:blip r:embed="rId2"/>
          <a:stretch>
            <a:fillRect/>
          </a:stretch>
        </p:blipFill>
        <p:spPr>
          <a:xfrm>
            <a:off x="502920" y="2331720"/>
            <a:ext cx="7315200" cy="3931920"/>
          </a:xfrm>
          <a:prstGeom prst="rect">
            <a:avLst/>
          </a:prstGeom>
          <a:ln w="12700">
            <a:solidFill>
              <a:srgbClr val="1B2C33"/>
            </a:solidFill>
          </a:ln>
        </p:spPr>
      </p:pic>
      <p:sp>
        <p:nvSpPr>
          <p:cNvPr id="7" name="TextBox 6"/>
          <p:cNvSpPr txBox="1"/>
          <p:nvPr/>
        </p:nvSpPr>
        <p:spPr>
          <a:xfrm>
            <a:off x="8092440" y="2377440"/>
            <a:ext cx="3566160" cy="3200400"/>
          </a:xfrm>
          <a:prstGeom prst="rect">
            <a:avLst/>
          </a:prstGeom>
          <a:noFill/>
        </p:spPr>
        <p:txBody>
          <a:bodyPr wrap="square" lIns="0" rIns="0" tIns="0" bIns="0">
            <a:spAutoFit/>
          </a:bodyPr>
          <a:lstStyle/>
          <a:p>
            <a:pPr>
              <a:lnSpc>
                <a:spcPct val="115000"/>
              </a:lnSpc>
              <a:spcAft>
                <a:spcPts val="700"/>
              </a:spcAft>
            </a:pPr>
            <a:r>
              <a:rPr sz="550">
                <a:solidFill>
                  <a:srgbClr val="53F0BE"/>
                </a:solidFill>
                <a:latin typeface="Helvetica Neue"/>
              </a:rPr>
              <a:t>●  </a:t>
            </a:r>
            <a:r>
              <a:rPr sz="860">
                <a:solidFill>
                  <a:srgbClr val="8AA6A0"/>
                </a:solidFill>
                <a:latin typeface="Helvetica Neue"/>
              </a:rPr>
              <a:t>Each agent has a mandate, tools, confidence and autonomy level.</a:t>
            </a:r>
          </a:p>
          <a:p>
            <a:pPr>
              <a:lnSpc>
                <a:spcPct val="115000"/>
              </a:lnSpc>
              <a:spcAft>
                <a:spcPts val="700"/>
              </a:spcAft>
            </a:pPr>
            <a:r>
              <a:rPr sz="550">
                <a:solidFill>
                  <a:srgbClr val="53F0BE"/>
                </a:solidFill>
                <a:latin typeface="Helvetica Neue"/>
              </a:rPr>
              <a:t>●  </a:t>
            </a:r>
            <a:r>
              <a:rPr sz="860">
                <a:solidFill>
                  <a:srgbClr val="8AA6A0"/>
                </a:solidFill>
                <a:latin typeface="Helvetica Neue"/>
              </a:rPr>
              <a:t>Evidence is cited; actions are logged in the Trust Ledger.</a:t>
            </a:r>
          </a:p>
          <a:p>
            <a:pPr>
              <a:lnSpc>
                <a:spcPct val="115000"/>
              </a:lnSpc>
              <a:spcAft>
                <a:spcPts val="700"/>
              </a:spcAft>
            </a:pPr>
            <a:r>
              <a:rPr sz="550">
                <a:solidFill>
                  <a:srgbClr val="53F0BE"/>
                </a:solidFill>
                <a:latin typeface="Helvetica Neue"/>
              </a:rPr>
              <a:t>●  </a:t>
            </a:r>
            <a:r>
              <a:rPr sz="860">
                <a:solidFill>
                  <a:srgbClr val="8AA6A0"/>
                </a:solidFill>
                <a:latin typeface="Helvetica Neue"/>
              </a:rPr>
              <a:t>Human gates for spend, contracts, safety and external release.</a:t>
            </a:r>
          </a:p>
          <a:p>
            <a:pPr>
              <a:lnSpc>
                <a:spcPct val="115000"/>
              </a:lnSpc>
              <a:spcAft>
                <a:spcPts val="700"/>
              </a:spcAft>
            </a:pPr>
            <a:r>
              <a:rPr sz="550">
                <a:solidFill>
                  <a:srgbClr val="53F0BE"/>
                </a:solidFill>
                <a:latin typeface="Helvetica Neue"/>
              </a:rPr>
              <a:t>●  </a:t>
            </a:r>
            <a:r>
              <a:rPr sz="860">
                <a:solidFill>
                  <a:srgbClr val="8AA6A0"/>
                </a:solidFill>
                <a:latin typeface="Helvetica Neue"/>
              </a:rPr>
              <a:t>Board pack and executive brief generated from the same run.</a:t>
            </a:r>
          </a:p>
          <a:p>
            <a:pPr>
              <a:lnSpc>
                <a:spcPct val="115000"/>
              </a:lnSpc>
              <a:spcAft>
                <a:spcPts val="700"/>
              </a:spcAft>
            </a:pPr>
            <a:r>
              <a:rPr sz="550">
                <a:solidFill>
                  <a:srgbClr val="53F0BE"/>
                </a:solidFill>
                <a:latin typeface="Helvetica Neue"/>
              </a:rPr>
              <a:t>●  </a:t>
            </a:r>
            <a:r>
              <a:rPr sz="860">
                <a:solidFill>
                  <a:srgbClr val="8AA6A0"/>
                </a:solidFill>
                <a:latin typeface="Helvetica Neue"/>
              </a:rPr>
              <a:t>War room for cross-functional incidents and recovery.</a:t>
            </a:r>
          </a:p>
        </p:txBody>
      </p:sp>
      <p:sp>
        <p:nvSpPr>
          <p:cNvPr id="8" name="Rounded Rectangle 7"/>
          <p:cNvSpPr/>
          <p:nvPr/>
        </p:nvSpPr>
        <p:spPr>
          <a:xfrm>
            <a:off x="8092440" y="5715000"/>
            <a:ext cx="169164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53F0BE"/>
                </a:solidFill>
                <a:latin typeface="SF Mono"/>
              </a:rPr>
              <a:t>6 AGENTS</a:t>
            </a:r>
          </a:p>
        </p:txBody>
      </p:sp>
      <p:sp>
        <p:nvSpPr>
          <p:cNvPr id="9" name="Rounded Rectangle 8"/>
          <p:cNvSpPr/>
          <p:nvPr/>
        </p:nvSpPr>
        <p:spPr>
          <a:xfrm>
            <a:off x="9875520" y="5715000"/>
            <a:ext cx="1645920" cy="256032"/>
          </a:xfrm>
          <a:prstGeom prst="roundRect">
            <a:avLst>
              <a:gd name="adj" fmla="val 25000"/>
            </a:avLst>
          </a:prstGeom>
          <a:solidFill>
            <a:srgbClr val="0A1A17"/>
          </a:solidFill>
          <a:ln w="6350">
            <a:solidFill>
              <a:srgbClr val="1E4A4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20" b="1">
                <a:solidFill>
                  <a:srgbClr val="F4BD72"/>
                </a:solidFill>
                <a:latin typeface="SF Mono"/>
              </a:rPr>
              <a:t>HUMAN GATES</a:t>
            </a:r>
          </a:p>
        </p:txBody>
      </p:sp>
      <p:sp>
        <p:nvSpPr>
          <p:cNvPr id="10" name="TextBox 9"/>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11" name="TextBox 10"/>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17  /  DATA, AI &amp; TRUST</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800" b="1" i="0">
                <a:solidFill>
                  <a:srgbClr val="EAF2F0"/>
                </a:solidFill>
                <a:latin typeface="Helvetica Neue"/>
              </a:rPr>
              <a:t>Evidence before automation.</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730" b="0" i="0">
                <a:solidFill>
                  <a:srgbClr val="8AA6A0"/>
                </a:solidFill>
                <a:latin typeface="Helvetica Neue"/>
              </a:rPr>
              <a:t>A data and AI governance layer with source lineage, model cards, access control, cyber posture and an attestation ledger.</a:t>
            </a:r>
          </a:p>
        </p:txBody>
      </p:sp>
      <p:pic>
        <p:nvPicPr>
          <p:cNvPr id="6" name="Picture 5" descr="data.jpg"/>
          <p:cNvPicPr>
            <a:picLocks noChangeAspect="1"/>
          </p:cNvPicPr>
          <p:nvPr/>
        </p:nvPicPr>
        <p:blipFill>
          <a:blip r:embed="rId2"/>
          <a:stretch>
            <a:fillRect/>
          </a:stretch>
        </p:blipFill>
        <p:spPr>
          <a:xfrm>
            <a:off x="502920" y="2331720"/>
            <a:ext cx="5486400" cy="3749039"/>
          </a:xfrm>
          <a:prstGeom prst="rect">
            <a:avLst/>
          </a:prstGeom>
          <a:ln w="12700">
            <a:solidFill>
              <a:srgbClr val="1B2C33"/>
            </a:solidFill>
          </a:ln>
        </p:spPr>
      </p:pic>
      <p:pic>
        <p:nvPicPr>
          <p:cNvPr id="7" name="Picture 6" descr="trust.jpg"/>
          <p:cNvPicPr>
            <a:picLocks noChangeAspect="1"/>
          </p:cNvPicPr>
          <p:nvPr/>
        </p:nvPicPr>
        <p:blipFill>
          <a:blip r:embed="rId3"/>
          <a:stretch>
            <a:fillRect/>
          </a:stretch>
        </p:blipFill>
        <p:spPr>
          <a:xfrm>
            <a:off x="6126480" y="2331720"/>
            <a:ext cx="5532120" cy="3749039"/>
          </a:xfrm>
          <a:prstGeom prst="rect">
            <a:avLst/>
          </a:prstGeom>
          <a:ln w="12700">
            <a:solidFill>
              <a:srgbClr val="1B2C33"/>
            </a:solidFill>
          </a:ln>
        </p:spPr>
      </p:pic>
      <p:sp>
        <p:nvSpPr>
          <p:cNvPr id="8" name="Rounded Rectangle 7"/>
          <p:cNvSpPr/>
          <p:nvPr/>
        </p:nvSpPr>
        <p:spPr>
          <a:xfrm>
            <a:off x="502920" y="5989320"/>
            <a:ext cx="11155680" cy="36576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062472"/>
            <a:ext cx="10972800" cy="182880"/>
          </a:xfrm>
          <a:prstGeom prst="rect">
            <a:avLst/>
          </a:prstGeom>
          <a:noFill/>
        </p:spPr>
        <p:txBody>
          <a:bodyPr wrap="square" lIns="0" rIns="0" tIns="0" bIns="0">
            <a:spAutoFit/>
          </a:bodyPr>
          <a:lstStyle/>
          <a:p>
            <a:pPr algn="l">
              <a:lnSpc>
                <a:spcPct val="100000"/>
              </a:lnSpc>
            </a:pPr>
            <a:r>
              <a:rPr sz="720" b="1" i="0">
                <a:solidFill>
                  <a:srgbClr val="53F0BE"/>
                </a:solidFill>
                <a:latin typeface="SF Mono"/>
              </a:rPr>
              <a:t>LINEAGE  ·  MODEL CARDS  ·  RBAC  ·  IEC 62443  ·  ATTESTATION  ·  AUDIT TRAIL</a:t>
            </a:r>
          </a:p>
        </p:txBody>
      </p:sp>
      <p:sp>
        <p:nvSpPr>
          <p:cNvPr id="10" name="TextBox 9"/>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11" name="TextBox 10"/>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18  /  EXPERIENCE SYSTEM</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700" b="1" i="0">
                <a:solidFill>
                  <a:srgbClr val="EAF2F0"/>
                </a:solidFill>
                <a:latin typeface="Helvetica Neue"/>
              </a:rPr>
              <a:t>English, 繁體中文, 简体中文 and five more.</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730" b="0" i="0">
                <a:solidFill>
                  <a:srgbClr val="8AA6A0"/>
                </a:solidFill>
                <a:latin typeface="Helvetica Neue"/>
              </a:rPr>
              <a:t>A typed, dependency-free i18n layer, persistent dark/light theme and a navigation that collapses to a 72 px icon rail by default.</a:t>
            </a:r>
          </a:p>
        </p:txBody>
      </p:sp>
      <p:pic>
        <p:nvPicPr>
          <p:cNvPr id="6" name="Picture 5" descr="nav.jpg"/>
          <p:cNvPicPr>
            <a:picLocks noChangeAspect="1"/>
          </p:cNvPicPr>
          <p:nvPr/>
        </p:nvPicPr>
        <p:blipFill>
          <a:blip r:embed="rId2"/>
          <a:stretch>
            <a:fillRect/>
          </a:stretch>
        </p:blipFill>
        <p:spPr>
          <a:xfrm>
            <a:off x="502920" y="2331720"/>
            <a:ext cx="6400800" cy="3794760"/>
          </a:xfrm>
          <a:prstGeom prst="rect">
            <a:avLst/>
          </a:prstGeom>
          <a:ln w="12700">
            <a:solidFill>
              <a:srgbClr val="1B2C33"/>
            </a:solidFill>
          </a:ln>
        </p:spPr>
      </p:pic>
      <p:sp>
        <p:nvSpPr>
          <p:cNvPr id="7" name="Rounded Rectangle 6"/>
          <p:cNvSpPr/>
          <p:nvPr/>
        </p:nvSpPr>
        <p:spPr>
          <a:xfrm>
            <a:off x="7178040" y="2331720"/>
            <a:ext cx="4507992" cy="379476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88352" y="2487168"/>
            <a:ext cx="4023360" cy="182880"/>
          </a:xfrm>
          <a:prstGeom prst="rect">
            <a:avLst/>
          </a:prstGeom>
          <a:noFill/>
        </p:spPr>
        <p:txBody>
          <a:bodyPr wrap="square" lIns="0" rIns="0" tIns="0" bIns="0">
            <a:spAutoFit/>
          </a:bodyPr>
          <a:lstStyle/>
          <a:p>
            <a:pPr algn="l">
              <a:lnSpc>
                <a:spcPct val="100000"/>
              </a:lnSpc>
            </a:pPr>
            <a:r>
              <a:rPr sz="720" b="1" i="0">
                <a:solidFill>
                  <a:srgbClr val="53F0BE"/>
                </a:solidFill>
                <a:latin typeface="SF Mono"/>
              </a:rPr>
              <a:t>LANGUAGES</a:t>
            </a:r>
          </a:p>
        </p:txBody>
      </p:sp>
      <p:sp>
        <p:nvSpPr>
          <p:cNvPr id="9" name="TextBox 8"/>
          <p:cNvSpPr txBox="1"/>
          <p:nvPr/>
        </p:nvSpPr>
        <p:spPr>
          <a:xfrm>
            <a:off x="7388352" y="2761488"/>
            <a:ext cx="320040" cy="182880"/>
          </a:xfrm>
          <a:prstGeom prst="rect">
            <a:avLst/>
          </a:prstGeom>
          <a:noFill/>
        </p:spPr>
        <p:txBody>
          <a:bodyPr wrap="square" lIns="0" rIns="0" tIns="0" bIns="0">
            <a:spAutoFit/>
          </a:bodyPr>
          <a:lstStyle/>
          <a:p>
            <a:pPr algn="l">
              <a:lnSpc>
                <a:spcPct val="100000"/>
              </a:lnSpc>
            </a:pPr>
            <a:r>
              <a:rPr sz="750" b="1" i="0">
                <a:solidFill>
                  <a:srgbClr val="53F0BE"/>
                </a:solidFill>
                <a:latin typeface="SF Mono"/>
              </a:rPr>
              <a:t>EN</a:t>
            </a:r>
          </a:p>
        </p:txBody>
      </p:sp>
      <p:sp>
        <p:nvSpPr>
          <p:cNvPr id="10" name="TextBox 9"/>
          <p:cNvSpPr txBox="1"/>
          <p:nvPr/>
        </p:nvSpPr>
        <p:spPr>
          <a:xfrm>
            <a:off x="7735824" y="2761488"/>
            <a:ext cx="1691640" cy="182880"/>
          </a:xfrm>
          <a:prstGeom prst="rect">
            <a:avLst/>
          </a:prstGeom>
          <a:noFill/>
        </p:spPr>
        <p:txBody>
          <a:bodyPr wrap="square" lIns="0" rIns="0" tIns="0" bIns="0">
            <a:spAutoFit/>
          </a:bodyPr>
          <a:lstStyle/>
          <a:p>
            <a:pPr algn="l">
              <a:lnSpc>
                <a:spcPct val="100000"/>
              </a:lnSpc>
            </a:pPr>
            <a:r>
              <a:rPr sz="750" b="0" i="0">
                <a:solidFill>
                  <a:srgbClr val="8AA6A0"/>
                </a:solidFill>
                <a:latin typeface="Helvetica Neue"/>
              </a:rPr>
              <a:t>English</a:t>
            </a:r>
          </a:p>
        </p:txBody>
      </p:sp>
      <p:sp>
        <p:nvSpPr>
          <p:cNvPr id="11" name="TextBox 10"/>
          <p:cNvSpPr txBox="1"/>
          <p:nvPr/>
        </p:nvSpPr>
        <p:spPr>
          <a:xfrm>
            <a:off x="9491472" y="2761488"/>
            <a:ext cx="320040" cy="182880"/>
          </a:xfrm>
          <a:prstGeom prst="rect">
            <a:avLst/>
          </a:prstGeom>
          <a:noFill/>
        </p:spPr>
        <p:txBody>
          <a:bodyPr wrap="square" lIns="0" rIns="0" tIns="0" bIns="0">
            <a:spAutoFit/>
          </a:bodyPr>
          <a:lstStyle/>
          <a:p>
            <a:pPr algn="l">
              <a:lnSpc>
                <a:spcPct val="100000"/>
              </a:lnSpc>
            </a:pPr>
            <a:r>
              <a:rPr sz="750" b="1" i="0">
                <a:solidFill>
                  <a:srgbClr val="53F0BE"/>
                </a:solidFill>
                <a:latin typeface="SF Mono"/>
              </a:rPr>
              <a:t>繁</a:t>
            </a:r>
          </a:p>
        </p:txBody>
      </p:sp>
      <p:sp>
        <p:nvSpPr>
          <p:cNvPr id="12" name="TextBox 11"/>
          <p:cNvSpPr txBox="1"/>
          <p:nvPr/>
        </p:nvSpPr>
        <p:spPr>
          <a:xfrm>
            <a:off x="9838944" y="2761488"/>
            <a:ext cx="1691640" cy="182880"/>
          </a:xfrm>
          <a:prstGeom prst="rect">
            <a:avLst/>
          </a:prstGeom>
          <a:noFill/>
        </p:spPr>
        <p:txBody>
          <a:bodyPr wrap="square" lIns="0" rIns="0" tIns="0" bIns="0">
            <a:spAutoFit/>
          </a:bodyPr>
          <a:lstStyle/>
          <a:p>
            <a:pPr algn="l">
              <a:lnSpc>
                <a:spcPct val="100000"/>
              </a:lnSpc>
            </a:pPr>
            <a:r>
              <a:rPr sz="750" b="0" i="0">
                <a:solidFill>
                  <a:srgbClr val="8AA6A0"/>
                </a:solidFill>
                <a:latin typeface="Helvetica Neue"/>
              </a:rPr>
              <a:t>Traditional Chinese</a:t>
            </a:r>
          </a:p>
        </p:txBody>
      </p:sp>
      <p:sp>
        <p:nvSpPr>
          <p:cNvPr id="13" name="TextBox 12"/>
          <p:cNvSpPr txBox="1"/>
          <p:nvPr/>
        </p:nvSpPr>
        <p:spPr>
          <a:xfrm>
            <a:off x="7388352" y="3172968"/>
            <a:ext cx="320040" cy="182880"/>
          </a:xfrm>
          <a:prstGeom prst="rect">
            <a:avLst/>
          </a:prstGeom>
          <a:noFill/>
        </p:spPr>
        <p:txBody>
          <a:bodyPr wrap="square" lIns="0" rIns="0" tIns="0" bIns="0">
            <a:spAutoFit/>
          </a:bodyPr>
          <a:lstStyle/>
          <a:p>
            <a:pPr algn="l">
              <a:lnSpc>
                <a:spcPct val="100000"/>
              </a:lnSpc>
            </a:pPr>
            <a:r>
              <a:rPr sz="750" b="1" i="0">
                <a:solidFill>
                  <a:srgbClr val="53F0BE"/>
                </a:solidFill>
                <a:latin typeface="SF Mono"/>
              </a:rPr>
              <a:t>简</a:t>
            </a:r>
          </a:p>
        </p:txBody>
      </p:sp>
      <p:sp>
        <p:nvSpPr>
          <p:cNvPr id="14" name="TextBox 13"/>
          <p:cNvSpPr txBox="1"/>
          <p:nvPr/>
        </p:nvSpPr>
        <p:spPr>
          <a:xfrm>
            <a:off x="7735824" y="3172968"/>
            <a:ext cx="1691640" cy="182880"/>
          </a:xfrm>
          <a:prstGeom prst="rect">
            <a:avLst/>
          </a:prstGeom>
          <a:noFill/>
        </p:spPr>
        <p:txBody>
          <a:bodyPr wrap="square" lIns="0" rIns="0" tIns="0" bIns="0">
            <a:spAutoFit/>
          </a:bodyPr>
          <a:lstStyle/>
          <a:p>
            <a:pPr algn="l">
              <a:lnSpc>
                <a:spcPct val="100000"/>
              </a:lnSpc>
            </a:pPr>
            <a:r>
              <a:rPr sz="750" b="0" i="0">
                <a:solidFill>
                  <a:srgbClr val="8AA6A0"/>
                </a:solidFill>
                <a:latin typeface="Helvetica Neue"/>
              </a:rPr>
              <a:t>Simplified Chinese</a:t>
            </a:r>
          </a:p>
        </p:txBody>
      </p:sp>
      <p:sp>
        <p:nvSpPr>
          <p:cNvPr id="15" name="TextBox 14"/>
          <p:cNvSpPr txBox="1"/>
          <p:nvPr/>
        </p:nvSpPr>
        <p:spPr>
          <a:xfrm>
            <a:off x="9491472" y="3172968"/>
            <a:ext cx="320040" cy="182880"/>
          </a:xfrm>
          <a:prstGeom prst="rect">
            <a:avLst/>
          </a:prstGeom>
          <a:noFill/>
        </p:spPr>
        <p:txBody>
          <a:bodyPr wrap="square" lIns="0" rIns="0" tIns="0" bIns="0">
            <a:spAutoFit/>
          </a:bodyPr>
          <a:lstStyle/>
          <a:p>
            <a:pPr algn="l">
              <a:lnSpc>
                <a:spcPct val="100000"/>
              </a:lnSpc>
            </a:pPr>
            <a:r>
              <a:rPr sz="750" b="1" i="0">
                <a:solidFill>
                  <a:srgbClr val="53F0BE"/>
                </a:solidFill>
                <a:latin typeface="SF Mono"/>
              </a:rPr>
              <a:t>ES</a:t>
            </a:r>
          </a:p>
        </p:txBody>
      </p:sp>
      <p:sp>
        <p:nvSpPr>
          <p:cNvPr id="16" name="TextBox 15"/>
          <p:cNvSpPr txBox="1"/>
          <p:nvPr/>
        </p:nvSpPr>
        <p:spPr>
          <a:xfrm>
            <a:off x="9838944" y="3172968"/>
            <a:ext cx="1691640" cy="182880"/>
          </a:xfrm>
          <a:prstGeom prst="rect">
            <a:avLst/>
          </a:prstGeom>
          <a:noFill/>
        </p:spPr>
        <p:txBody>
          <a:bodyPr wrap="square" lIns="0" rIns="0" tIns="0" bIns="0">
            <a:spAutoFit/>
          </a:bodyPr>
          <a:lstStyle/>
          <a:p>
            <a:pPr algn="l">
              <a:lnSpc>
                <a:spcPct val="100000"/>
              </a:lnSpc>
            </a:pPr>
            <a:r>
              <a:rPr sz="750" b="0" i="0">
                <a:solidFill>
                  <a:srgbClr val="8AA6A0"/>
                </a:solidFill>
                <a:latin typeface="Helvetica Neue"/>
              </a:rPr>
              <a:t>Español</a:t>
            </a:r>
          </a:p>
        </p:txBody>
      </p:sp>
      <p:sp>
        <p:nvSpPr>
          <p:cNvPr id="17" name="TextBox 16"/>
          <p:cNvSpPr txBox="1"/>
          <p:nvPr/>
        </p:nvSpPr>
        <p:spPr>
          <a:xfrm>
            <a:off x="7388352" y="3584448"/>
            <a:ext cx="320040" cy="182880"/>
          </a:xfrm>
          <a:prstGeom prst="rect">
            <a:avLst/>
          </a:prstGeom>
          <a:noFill/>
        </p:spPr>
        <p:txBody>
          <a:bodyPr wrap="square" lIns="0" rIns="0" tIns="0" bIns="0">
            <a:spAutoFit/>
          </a:bodyPr>
          <a:lstStyle/>
          <a:p>
            <a:pPr algn="l">
              <a:lnSpc>
                <a:spcPct val="100000"/>
              </a:lnSpc>
            </a:pPr>
            <a:r>
              <a:rPr sz="750" b="1" i="0">
                <a:solidFill>
                  <a:srgbClr val="53F0BE"/>
                </a:solidFill>
                <a:latin typeface="SF Mono"/>
              </a:rPr>
              <a:t>FR</a:t>
            </a:r>
          </a:p>
        </p:txBody>
      </p:sp>
      <p:sp>
        <p:nvSpPr>
          <p:cNvPr id="18" name="TextBox 17"/>
          <p:cNvSpPr txBox="1"/>
          <p:nvPr/>
        </p:nvSpPr>
        <p:spPr>
          <a:xfrm>
            <a:off x="7735824" y="3584448"/>
            <a:ext cx="1691640" cy="182880"/>
          </a:xfrm>
          <a:prstGeom prst="rect">
            <a:avLst/>
          </a:prstGeom>
          <a:noFill/>
        </p:spPr>
        <p:txBody>
          <a:bodyPr wrap="square" lIns="0" rIns="0" tIns="0" bIns="0">
            <a:spAutoFit/>
          </a:bodyPr>
          <a:lstStyle/>
          <a:p>
            <a:pPr algn="l">
              <a:lnSpc>
                <a:spcPct val="100000"/>
              </a:lnSpc>
            </a:pPr>
            <a:r>
              <a:rPr sz="750" b="0" i="0">
                <a:solidFill>
                  <a:srgbClr val="8AA6A0"/>
                </a:solidFill>
                <a:latin typeface="Helvetica Neue"/>
              </a:rPr>
              <a:t>Français</a:t>
            </a:r>
          </a:p>
        </p:txBody>
      </p:sp>
      <p:sp>
        <p:nvSpPr>
          <p:cNvPr id="19" name="TextBox 18"/>
          <p:cNvSpPr txBox="1"/>
          <p:nvPr/>
        </p:nvSpPr>
        <p:spPr>
          <a:xfrm>
            <a:off x="9491472" y="3584448"/>
            <a:ext cx="320040" cy="182880"/>
          </a:xfrm>
          <a:prstGeom prst="rect">
            <a:avLst/>
          </a:prstGeom>
          <a:noFill/>
        </p:spPr>
        <p:txBody>
          <a:bodyPr wrap="square" lIns="0" rIns="0" tIns="0" bIns="0">
            <a:spAutoFit/>
          </a:bodyPr>
          <a:lstStyle/>
          <a:p>
            <a:pPr algn="l">
              <a:lnSpc>
                <a:spcPct val="100000"/>
              </a:lnSpc>
            </a:pPr>
            <a:r>
              <a:rPr sz="750" b="1" i="0">
                <a:solidFill>
                  <a:srgbClr val="53F0BE"/>
                </a:solidFill>
                <a:latin typeface="SF Mono"/>
              </a:rPr>
              <a:t>JA</a:t>
            </a:r>
          </a:p>
        </p:txBody>
      </p:sp>
      <p:sp>
        <p:nvSpPr>
          <p:cNvPr id="20" name="TextBox 19"/>
          <p:cNvSpPr txBox="1"/>
          <p:nvPr/>
        </p:nvSpPr>
        <p:spPr>
          <a:xfrm>
            <a:off x="9838944" y="3584448"/>
            <a:ext cx="1691640" cy="182880"/>
          </a:xfrm>
          <a:prstGeom prst="rect">
            <a:avLst/>
          </a:prstGeom>
          <a:noFill/>
        </p:spPr>
        <p:txBody>
          <a:bodyPr wrap="square" lIns="0" rIns="0" tIns="0" bIns="0">
            <a:spAutoFit/>
          </a:bodyPr>
          <a:lstStyle/>
          <a:p>
            <a:pPr algn="l">
              <a:lnSpc>
                <a:spcPct val="100000"/>
              </a:lnSpc>
            </a:pPr>
            <a:r>
              <a:rPr sz="750" b="0" i="0">
                <a:solidFill>
                  <a:srgbClr val="8AA6A0"/>
                </a:solidFill>
                <a:latin typeface="Helvetica Neue"/>
              </a:rPr>
              <a:t>日本語</a:t>
            </a:r>
          </a:p>
        </p:txBody>
      </p:sp>
      <p:sp>
        <p:nvSpPr>
          <p:cNvPr id="21" name="TextBox 20"/>
          <p:cNvSpPr txBox="1"/>
          <p:nvPr/>
        </p:nvSpPr>
        <p:spPr>
          <a:xfrm>
            <a:off x="7388352" y="3995928"/>
            <a:ext cx="320040" cy="182880"/>
          </a:xfrm>
          <a:prstGeom prst="rect">
            <a:avLst/>
          </a:prstGeom>
          <a:noFill/>
        </p:spPr>
        <p:txBody>
          <a:bodyPr wrap="square" lIns="0" rIns="0" tIns="0" bIns="0">
            <a:spAutoFit/>
          </a:bodyPr>
          <a:lstStyle/>
          <a:p>
            <a:pPr algn="l">
              <a:lnSpc>
                <a:spcPct val="100000"/>
              </a:lnSpc>
            </a:pPr>
            <a:r>
              <a:rPr sz="750" b="1" i="0">
                <a:solidFill>
                  <a:srgbClr val="53F0BE"/>
                </a:solidFill>
                <a:latin typeface="SF Mono"/>
              </a:rPr>
              <a:t>DE</a:t>
            </a:r>
          </a:p>
        </p:txBody>
      </p:sp>
      <p:sp>
        <p:nvSpPr>
          <p:cNvPr id="22" name="TextBox 21"/>
          <p:cNvSpPr txBox="1"/>
          <p:nvPr/>
        </p:nvSpPr>
        <p:spPr>
          <a:xfrm>
            <a:off x="7735824" y="3995928"/>
            <a:ext cx="1691640" cy="182880"/>
          </a:xfrm>
          <a:prstGeom prst="rect">
            <a:avLst/>
          </a:prstGeom>
          <a:noFill/>
        </p:spPr>
        <p:txBody>
          <a:bodyPr wrap="square" lIns="0" rIns="0" tIns="0" bIns="0">
            <a:spAutoFit/>
          </a:bodyPr>
          <a:lstStyle/>
          <a:p>
            <a:pPr algn="l">
              <a:lnSpc>
                <a:spcPct val="100000"/>
              </a:lnSpc>
            </a:pPr>
            <a:r>
              <a:rPr sz="750" b="0" i="0">
                <a:solidFill>
                  <a:srgbClr val="8AA6A0"/>
                </a:solidFill>
                <a:latin typeface="Helvetica Neue"/>
              </a:rPr>
              <a:t>Deutsch</a:t>
            </a:r>
          </a:p>
        </p:txBody>
      </p:sp>
      <p:sp>
        <p:nvSpPr>
          <p:cNvPr id="23" name="TextBox 22"/>
          <p:cNvSpPr txBox="1"/>
          <p:nvPr/>
        </p:nvSpPr>
        <p:spPr>
          <a:xfrm>
            <a:off x="9491472" y="3995928"/>
            <a:ext cx="320040" cy="182880"/>
          </a:xfrm>
          <a:prstGeom prst="rect">
            <a:avLst/>
          </a:prstGeom>
          <a:noFill/>
        </p:spPr>
        <p:txBody>
          <a:bodyPr wrap="square" lIns="0" rIns="0" tIns="0" bIns="0">
            <a:spAutoFit/>
          </a:bodyPr>
          <a:lstStyle/>
          <a:p>
            <a:pPr algn="l">
              <a:lnSpc>
                <a:spcPct val="100000"/>
              </a:lnSpc>
            </a:pPr>
            <a:r>
              <a:rPr sz="750" b="1" i="0">
                <a:solidFill>
                  <a:srgbClr val="53F0BE"/>
                </a:solidFill>
                <a:latin typeface="SF Mono"/>
              </a:rPr>
              <a:t>KO</a:t>
            </a:r>
          </a:p>
        </p:txBody>
      </p:sp>
      <p:sp>
        <p:nvSpPr>
          <p:cNvPr id="24" name="TextBox 23"/>
          <p:cNvSpPr txBox="1"/>
          <p:nvPr/>
        </p:nvSpPr>
        <p:spPr>
          <a:xfrm>
            <a:off x="9838944" y="3995928"/>
            <a:ext cx="1691640" cy="182880"/>
          </a:xfrm>
          <a:prstGeom prst="rect">
            <a:avLst/>
          </a:prstGeom>
          <a:noFill/>
        </p:spPr>
        <p:txBody>
          <a:bodyPr wrap="square" lIns="0" rIns="0" tIns="0" bIns="0">
            <a:spAutoFit/>
          </a:bodyPr>
          <a:lstStyle/>
          <a:p>
            <a:pPr algn="l">
              <a:lnSpc>
                <a:spcPct val="100000"/>
              </a:lnSpc>
            </a:pPr>
            <a:r>
              <a:rPr sz="750" b="0" i="0">
                <a:solidFill>
                  <a:srgbClr val="8AA6A0"/>
                </a:solidFill>
                <a:latin typeface="Helvetica Neue"/>
              </a:rPr>
              <a:t>한국어</a:t>
            </a:r>
          </a:p>
        </p:txBody>
      </p:sp>
      <p:sp>
        <p:nvSpPr>
          <p:cNvPr id="25" name="TextBox 24"/>
          <p:cNvSpPr txBox="1"/>
          <p:nvPr/>
        </p:nvSpPr>
        <p:spPr>
          <a:xfrm>
            <a:off x="7388352" y="4553712"/>
            <a:ext cx="4023360" cy="182880"/>
          </a:xfrm>
          <a:prstGeom prst="rect">
            <a:avLst/>
          </a:prstGeom>
          <a:noFill/>
        </p:spPr>
        <p:txBody>
          <a:bodyPr wrap="square" lIns="0" rIns="0" tIns="0" bIns="0">
            <a:spAutoFit/>
          </a:bodyPr>
          <a:lstStyle/>
          <a:p>
            <a:pPr algn="l">
              <a:lnSpc>
                <a:spcPct val="100000"/>
              </a:lnSpc>
            </a:pPr>
            <a:r>
              <a:rPr sz="720" b="1" i="0">
                <a:solidFill>
                  <a:srgbClr val="53F0BE"/>
                </a:solidFill>
                <a:latin typeface="SF Mono"/>
              </a:rPr>
              <a:t>THEME</a:t>
            </a:r>
          </a:p>
        </p:txBody>
      </p:sp>
      <p:sp>
        <p:nvSpPr>
          <p:cNvPr id="26" name="TextBox 25"/>
          <p:cNvSpPr txBox="1"/>
          <p:nvPr/>
        </p:nvSpPr>
        <p:spPr>
          <a:xfrm>
            <a:off x="7388352" y="4754880"/>
            <a:ext cx="4023360" cy="502920"/>
          </a:xfrm>
          <a:prstGeom prst="rect">
            <a:avLst/>
          </a:prstGeom>
          <a:noFill/>
        </p:spPr>
        <p:txBody>
          <a:bodyPr wrap="square" lIns="0" rIns="0" tIns="0" bIns="0">
            <a:spAutoFit/>
          </a:bodyPr>
          <a:lstStyle/>
          <a:p>
            <a:pPr algn="l">
              <a:lnSpc>
                <a:spcPct val="115000"/>
              </a:lnSpc>
            </a:pPr>
            <a:r>
              <a:rPr sz="780" b="0" i="0">
                <a:solidFill>
                  <a:srgbClr val="8AA6A0"/>
                </a:solidFill>
                <a:latin typeface="Helvetica Neue"/>
              </a:rPr>
              <a:t>Dark is the default. Light theme restyles the shell and panels while keeping 3D viewports dark for engineering contrast.</a:t>
            </a:r>
          </a:p>
        </p:txBody>
      </p:sp>
      <p:sp>
        <p:nvSpPr>
          <p:cNvPr id="27" name="TextBox 26"/>
          <p:cNvSpPr txBox="1"/>
          <p:nvPr/>
        </p:nvSpPr>
        <p:spPr>
          <a:xfrm>
            <a:off x="7388352" y="5440680"/>
            <a:ext cx="4023360" cy="182880"/>
          </a:xfrm>
          <a:prstGeom prst="rect">
            <a:avLst/>
          </a:prstGeom>
          <a:noFill/>
        </p:spPr>
        <p:txBody>
          <a:bodyPr wrap="square" lIns="0" rIns="0" tIns="0" bIns="0">
            <a:spAutoFit/>
          </a:bodyPr>
          <a:lstStyle/>
          <a:p>
            <a:pPr algn="l">
              <a:lnSpc>
                <a:spcPct val="100000"/>
              </a:lnSpc>
            </a:pPr>
            <a:r>
              <a:rPr sz="720" b="1" i="0">
                <a:solidFill>
                  <a:srgbClr val="53F0BE"/>
                </a:solidFill>
                <a:latin typeface="SF Mono"/>
              </a:rPr>
              <a:t>NAVIGATION</a:t>
            </a:r>
          </a:p>
        </p:txBody>
      </p:sp>
      <p:sp>
        <p:nvSpPr>
          <p:cNvPr id="28" name="TextBox 27"/>
          <p:cNvSpPr txBox="1"/>
          <p:nvPr/>
        </p:nvSpPr>
        <p:spPr>
          <a:xfrm>
            <a:off x="7388352" y="5641848"/>
            <a:ext cx="4023360" cy="320040"/>
          </a:xfrm>
          <a:prstGeom prst="rect">
            <a:avLst/>
          </a:prstGeom>
          <a:noFill/>
        </p:spPr>
        <p:txBody>
          <a:bodyPr wrap="square" lIns="0" rIns="0" tIns="0" bIns="0">
            <a:spAutoFit/>
          </a:bodyPr>
          <a:lstStyle/>
          <a:p>
            <a:pPr algn="l">
              <a:lnSpc>
                <a:spcPct val="115000"/>
              </a:lnSpc>
            </a:pPr>
            <a:r>
              <a:rPr sz="780" b="0" i="0">
                <a:solidFill>
                  <a:srgbClr val="8AA6A0"/>
                </a:solidFill>
                <a:latin typeface="Helvetica Neue"/>
              </a:rPr>
              <a:t>Collapsed by default to an icon rail. The hamburger expands a 252 px panel; desktop content shifts, mobile uses a backdrop or X.</a:t>
            </a:r>
          </a:p>
        </p:txBody>
      </p:sp>
      <p:sp>
        <p:nvSpPr>
          <p:cNvPr id="29" name="TextBox 28"/>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30" name="TextBox 29"/>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19  /  TECHNICAL DELIVERY</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800" b="1" i="0">
                <a:solidFill>
                  <a:srgbClr val="EAF2F0"/>
                </a:solidFill>
                <a:latin typeface="Helvetica Neue"/>
              </a:rPr>
              <a:t>Built for the browser, not a workstation.</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1180" b="0" i="0">
                <a:solidFill>
                  <a:srgbClr val="8AA6A0"/>
                </a:solidFill>
                <a:latin typeface="Helvetica Neue"/>
              </a:rPr>
              <a:t>React 19, TypeScript and Vite on the front; vanilla Three.js with a shared rendering stage; zero-dependency production server.</a:t>
            </a:r>
          </a:p>
        </p:txBody>
      </p:sp>
      <p:sp>
        <p:nvSpPr>
          <p:cNvPr id="6" name="Rounded Rectangle 5"/>
          <p:cNvSpPr/>
          <p:nvPr/>
        </p:nvSpPr>
        <p:spPr>
          <a:xfrm>
            <a:off x="502920" y="2148840"/>
            <a:ext cx="5486400" cy="3977639"/>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304288"/>
            <a:ext cx="4937760" cy="182880"/>
          </a:xfrm>
          <a:prstGeom prst="rect">
            <a:avLst/>
          </a:prstGeom>
          <a:noFill/>
        </p:spPr>
        <p:txBody>
          <a:bodyPr wrap="square" lIns="0" rIns="0" tIns="0" bIns="0">
            <a:spAutoFit/>
          </a:bodyPr>
          <a:lstStyle/>
          <a:p>
            <a:pPr algn="l">
              <a:lnSpc>
                <a:spcPct val="100000"/>
              </a:lnSpc>
            </a:pPr>
            <a:r>
              <a:rPr sz="720" b="1" i="0">
                <a:solidFill>
                  <a:srgbClr val="53F0BE"/>
                </a:solidFill>
                <a:latin typeface="SF Mono"/>
              </a:rPr>
              <a:t>STACK</a:t>
            </a:r>
          </a:p>
        </p:txBody>
      </p:sp>
      <p:sp>
        <p:nvSpPr>
          <p:cNvPr id="8" name="TextBox 7"/>
          <p:cNvSpPr txBox="1"/>
          <p:nvPr/>
        </p:nvSpPr>
        <p:spPr>
          <a:xfrm>
            <a:off x="731520" y="2633472"/>
            <a:ext cx="2057400" cy="182880"/>
          </a:xfrm>
          <a:prstGeom prst="rect">
            <a:avLst/>
          </a:prstGeom>
          <a:noFill/>
        </p:spPr>
        <p:txBody>
          <a:bodyPr wrap="square" lIns="0" rIns="0" tIns="0" bIns="0">
            <a:spAutoFit/>
          </a:bodyPr>
          <a:lstStyle/>
          <a:p>
            <a:pPr algn="l">
              <a:lnSpc>
                <a:spcPct val="100000"/>
              </a:lnSpc>
            </a:pPr>
            <a:r>
              <a:rPr sz="800" b="1" i="0">
                <a:solidFill>
                  <a:srgbClr val="EAF2F0"/>
                </a:solidFill>
                <a:latin typeface="Helvetica Neue"/>
              </a:rPr>
              <a:t>React 19 + TypeScript</a:t>
            </a:r>
          </a:p>
        </p:txBody>
      </p:sp>
      <p:sp>
        <p:nvSpPr>
          <p:cNvPr id="9" name="TextBox 8"/>
          <p:cNvSpPr txBox="1"/>
          <p:nvPr/>
        </p:nvSpPr>
        <p:spPr>
          <a:xfrm>
            <a:off x="2788920" y="2633472"/>
            <a:ext cx="2926080" cy="182880"/>
          </a:xfrm>
          <a:prstGeom prst="rect">
            <a:avLst/>
          </a:prstGeom>
          <a:noFill/>
        </p:spPr>
        <p:txBody>
          <a:bodyPr wrap="square" lIns="0" rIns="0" tIns="0" bIns="0">
            <a:spAutoFit/>
          </a:bodyPr>
          <a:lstStyle/>
          <a:p>
            <a:pPr algn="l">
              <a:lnSpc>
                <a:spcPct val="100000"/>
              </a:lnSpc>
            </a:pPr>
            <a:r>
              <a:rPr sz="720" b="0" i="0">
                <a:solidFill>
                  <a:srgbClr val="8AA6A0"/>
                </a:solidFill>
                <a:latin typeface="Helvetica Neue"/>
              </a:rPr>
              <a:t>UI, routing, state and typed domain data</a:t>
            </a:r>
          </a:p>
        </p:txBody>
      </p:sp>
      <p:sp>
        <p:nvSpPr>
          <p:cNvPr id="10" name="TextBox 9"/>
          <p:cNvSpPr txBox="1"/>
          <p:nvPr/>
        </p:nvSpPr>
        <p:spPr>
          <a:xfrm>
            <a:off x="731520" y="3108960"/>
            <a:ext cx="2057400" cy="182880"/>
          </a:xfrm>
          <a:prstGeom prst="rect">
            <a:avLst/>
          </a:prstGeom>
          <a:noFill/>
        </p:spPr>
        <p:txBody>
          <a:bodyPr wrap="square" lIns="0" rIns="0" tIns="0" bIns="0">
            <a:spAutoFit/>
          </a:bodyPr>
          <a:lstStyle/>
          <a:p>
            <a:pPr algn="l">
              <a:lnSpc>
                <a:spcPct val="100000"/>
              </a:lnSpc>
            </a:pPr>
            <a:r>
              <a:rPr sz="800" b="1" i="0">
                <a:solidFill>
                  <a:srgbClr val="EAF2F0"/>
                </a:solidFill>
                <a:latin typeface="Helvetica Neue"/>
              </a:rPr>
              <a:t>Vite 8</a:t>
            </a:r>
          </a:p>
        </p:txBody>
      </p:sp>
      <p:sp>
        <p:nvSpPr>
          <p:cNvPr id="11" name="TextBox 10"/>
          <p:cNvSpPr txBox="1"/>
          <p:nvPr/>
        </p:nvSpPr>
        <p:spPr>
          <a:xfrm>
            <a:off x="2788920" y="3108960"/>
            <a:ext cx="2926080" cy="182880"/>
          </a:xfrm>
          <a:prstGeom prst="rect">
            <a:avLst/>
          </a:prstGeom>
          <a:noFill/>
        </p:spPr>
        <p:txBody>
          <a:bodyPr wrap="square" lIns="0" rIns="0" tIns="0" bIns="0">
            <a:spAutoFit/>
          </a:bodyPr>
          <a:lstStyle/>
          <a:p>
            <a:pPr algn="l">
              <a:lnSpc>
                <a:spcPct val="100000"/>
              </a:lnSpc>
            </a:pPr>
            <a:r>
              <a:rPr sz="720" b="0" i="0">
                <a:solidFill>
                  <a:srgbClr val="8AA6A0"/>
                </a:solidFill>
                <a:latin typeface="Helvetica Neue"/>
              </a:rPr>
              <a:t>fast dev server and production build</a:t>
            </a:r>
          </a:p>
        </p:txBody>
      </p:sp>
      <p:sp>
        <p:nvSpPr>
          <p:cNvPr id="12" name="TextBox 11"/>
          <p:cNvSpPr txBox="1"/>
          <p:nvPr/>
        </p:nvSpPr>
        <p:spPr>
          <a:xfrm>
            <a:off x="731520" y="3584448"/>
            <a:ext cx="2057400" cy="182880"/>
          </a:xfrm>
          <a:prstGeom prst="rect">
            <a:avLst/>
          </a:prstGeom>
          <a:noFill/>
        </p:spPr>
        <p:txBody>
          <a:bodyPr wrap="square" lIns="0" rIns="0" tIns="0" bIns="0">
            <a:spAutoFit/>
          </a:bodyPr>
          <a:lstStyle/>
          <a:p>
            <a:pPr algn="l">
              <a:lnSpc>
                <a:spcPct val="100000"/>
              </a:lnSpc>
            </a:pPr>
            <a:r>
              <a:rPr sz="800" b="1" i="0">
                <a:solidFill>
                  <a:srgbClr val="EAF2F0"/>
                </a:solidFill>
                <a:latin typeface="Helvetica Neue"/>
              </a:rPr>
              <a:t>Three.js r186</a:t>
            </a:r>
          </a:p>
        </p:txBody>
      </p:sp>
      <p:sp>
        <p:nvSpPr>
          <p:cNvPr id="13" name="TextBox 12"/>
          <p:cNvSpPr txBox="1"/>
          <p:nvPr/>
        </p:nvSpPr>
        <p:spPr>
          <a:xfrm>
            <a:off x="2788920" y="3584448"/>
            <a:ext cx="2926080" cy="182880"/>
          </a:xfrm>
          <a:prstGeom prst="rect">
            <a:avLst/>
          </a:prstGeom>
          <a:noFill/>
        </p:spPr>
        <p:txBody>
          <a:bodyPr wrap="square" lIns="0" rIns="0" tIns="0" bIns="0">
            <a:spAutoFit/>
          </a:bodyPr>
          <a:lstStyle/>
          <a:p>
            <a:pPr algn="l">
              <a:lnSpc>
                <a:spcPct val="100000"/>
              </a:lnSpc>
            </a:pPr>
            <a:r>
              <a:rPr sz="720" b="0" i="0">
                <a:solidFill>
                  <a:srgbClr val="8AA6A0"/>
                </a:solidFill>
                <a:latin typeface="Helvetica Neue"/>
              </a:rPr>
              <a:t>55 scene graphs through one ThreeStage</a:t>
            </a:r>
          </a:p>
        </p:txBody>
      </p:sp>
      <p:sp>
        <p:nvSpPr>
          <p:cNvPr id="14" name="TextBox 13"/>
          <p:cNvSpPr txBox="1"/>
          <p:nvPr/>
        </p:nvSpPr>
        <p:spPr>
          <a:xfrm>
            <a:off x="731520" y="4059935"/>
            <a:ext cx="2057400" cy="182880"/>
          </a:xfrm>
          <a:prstGeom prst="rect">
            <a:avLst/>
          </a:prstGeom>
          <a:noFill/>
        </p:spPr>
        <p:txBody>
          <a:bodyPr wrap="square" lIns="0" rIns="0" tIns="0" bIns="0">
            <a:spAutoFit/>
          </a:bodyPr>
          <a:lstStyle/>
          <a:p>
            <a:pPr algn="l">
              <a:lnSpc>
                <a:spcPct val="100000"/>
              </a:lnSpc>
            </a:pPr>
            <a:r>
              <a:rPr sz="800" b="1" i="0">
                <a:solidFill>
                  <a:srgbClr val="EAF2F0"/>
                </a:solidFill>
                <a:latin typeface="Helvetica Neue"/>
              </a:rPr>
              <a:t>Tailwind CSS v4</a:t>
            </a:r>
          </a:p>
        </p:txBody>
      </p:sp>
      <p:sp>
        <p:nvSpPr>
          <p:cNvPr id="15" name="TextBox 14"/>
          <p:cNvSpPr txBox="1"/>
          <p:nvPr/>
        </p:nvSpPr>
        <p:spPr>
          <a:xfrm>
            <a:off x="2788920" y="4059935"/>
            <a:ext cx="2926080" cy="182880"/>
          </a:xfrm>
          <a:prstGeom prst="rect">
            <a:avLst/>
          </a:prstGeom>
          <a:noFill/>
        </p:spPr>
        <p:txBody>
          <a:bodyPr wrap="square" lIns="0" rIns="0" tIns="0" bIns="0">
            <a:spAutoFit/>
          </a:bodyPr>
          <a:lstStyle/>
          <a:p>
            <a:pPr algn="l">
              <a:lnSpc>
                <a:spcPct val="100000"/>
              </a:lnSpc>
            </a:pPr>
            <a:r>
              <a:rPr sz="720" b="0" i="0">
                <a:solidFill>
                  <a:srgbClr val="8AA6A0"/>
                </a:solidFill>
                <a:latin typeface="Helvetica Neue"/>
              </a:rPr>
              <a:t>design tokens and dark/light themes</a:t>
            </a:r>
          </a:p>
        </p:txBody>
      </p:sp>
      <p:sp>
        <p:nvSpPr>
          <p:cNvPr id="16" name="TextBox 15"/>
          <p:cNvSpPr txBox="1"/>
          <p:nvPr/>
        </p:nvSpPr>
        <p:spPr>
          <a:xfrm>
            <a:off x="731520" y="4535423"/>
            <a:ext cx="2057400" cy="182880"/>
          </a:xfrm>
          <a:prstGeom prst="rect">
            <a:avLst/>
          </a:prstGeom>
          <a:noFill/>
        </p:spPr>
        <p:txBody>
          <a:bodyPr wrap="square" lIns="0" rIns="0" tIns="0" bIns="0">
            <a:spAutoFit/>
          </a:bodyPr>
          <a:lstStyle/>
          <a:p>
            <a:pPr algn="l">
              <a:lnSpc>
                <a:spcPct val="100000"/>
              </a:lnSpc>
            </a:pPr>
            <a:r>
              <a:rPr sz="800" b="1" i="0">
                <a:solidFill>
                  <a:srgbClr val="EAF2F0"/>
                </a:solidFill>
                <a:latin typeface="Helvetica Neue"/>
              </a:rPr>
              <a:t>Playwright Core</a:t>
            </a:r>
          </a:p>
        </p:txBody>
      </p:sp>
      <p:sp>
        <p:nvSpPr>
          <p:cNvPr id="17" name="TextBox 16"/>
          <p:cNvSpPr txBox="1"/>
          <p:nvPr/>
        </p:nvSpPr>
        <p:spPr>
          <a:xfrm>
            <a:off x="2788920" y="4535423"/>
            <a:ext cx="2926080" cy="182880"/>
          </a:xfrm>
          <a:prstGeom prst="rect">
            <a:avLst/>
          </a:prstGeom>
          <a:noFill/>
        </p:spPr>
        <p:txBody>
          <a:bodyPr wrap="square" lIns="0" rIns="0" tIns="0" bIns="0">
            <a:spAutoFit/>
          </a:bodyPr>
          <a:lstStyle/>
          <a:p>
            <a:pPr algn="l">
              <a:lnSpc>
                <a:spcPct val="100000"/>
              </a:lnSpc>
            </a:pPr>
            <a:r>
              <a:rPr sz="720" b="0" i="0">
                <a:solidFill>
                  <a:srgbClr val="8AA6A0"/>
                </a:solidFill>
                <a:latin typeface="Helvetica Neue"/>
              </a:rPr>
              <a:t>screenshots, mobile checks, production smoke</a:t>
            </a:r>
          </a:p>
        </p:txBody>
      </p:sp>
      <p:sp>
        <p:nvSpPr>
          <p:cNvPr id="18" name="TextBox 17"/>
          <p:cNvSpPr txBox="1"/>
          <p:nvPr/>
        </p:nvSpPr>
        <p:spPr>
          <a:xfrm>
            <a:off x="731520" y="5010911"/>
            <a:ext cx="2057400" cy="182880"/>
          </a:xfrm>
          <a:prstGeom prst="rect">
            <a:avLst/>
          </a:prstGeom>
          <a:noFill/>
        </p:spPr>
        <p:txBody>
          <a:bodyPr wrap="square" lIns="0" rIns="0" tIns="0" bIns="0">
            <a:spAutoFit/>
          </a:bodyPr>
          <a:lstStyle/>
          <a:p>
            <a:pPr algn="l">
              <a:lnSpc>
                <a:spcPct val="100000"/>
              </a:lnSpc>
            </a:pPr>
            <a:r>
              <a:rPr sz="800" b="1" i="0">
                <a:solidFill>
                  <a:srgbClr val="EAF2F0"/>
                </a:solidFill>
                <a:latin typeface="Helvetica Neue"/>
              </a:rPr>
              <a:t>Zero-dependency serve.mjs</a:t>
            </a:r>
          </a:p>
        </p:txBody>
      </p:sp>
      <p:sp>
        <p:nvSpPr>
          <p:cNvPr id="19" name="TextBox 18"/>
          <p:cNvSpPr txBox="1"/>
          <p:nvPr/>
        </p:nvSpPr>
        <p:spPr>
          <a:xfrm>
            <a:off x="2788920" y="5010911"/>
            <a:ext cx="2926080" cy="182880"/>
          </a:xfrm>
          <a:prstGeom prst="rect">
            <a:avLst/>
          </a:prstGeom>
          <a:noFill/>
        </p:spPr>
        <p:txBody>
          <a:bodyPr wrap="square" lIns="0" rIns="0" tIns="0" bIns="0">
            <a:spAutoFit/>
          </a:bodyPr>
          <a:lstStyle/>
          <a:p>
            <a:pPr algn="l">
              <a:lnSpc>
                <a:spcPct val="100000"/>
              </a:lnSpc>
            </a:pPr>
            <a:r>
              <a:rPr sz="720" b="0" i="0">
                <a:solidFill>
                  <a:srgbClr val="8AA6A0"/>
                </a:solidFill>
                <a:latin typeface="Helvetica Neue"/>
              </a:rPr>
              <a:t>single-command production server</a:t>
            </a:r>
          </a:p>
        </p:txBody>
      </p:sp>
      <p:graphicFrame>
        <p:nvGraphicFramePr>
          <p:cNvPr id="20" name="Chart 19"/>
          <p:cNvGraphicFramePr>
            <a:graphicFrameLocks noGrp="1"/>
          </p:cNvGraphicFramePr>
          <p:nvPr/>
        </p:nvGraphicFramePr>
        <p:xfrm>
          <a:off x="6263640" y="2148840"/>
          <a:ext cx="5394960" cy="3977639"/>
        </p:xfrm>
        <a:graphic>
          <a:graphicData uri="http://schemas.openxmlformats.org/drawingml/2006/chart">
            <c:chart xmlns:c="http://schemas.openxmlformats.org/drawingml/2006/chart" r:id="rId2"/>
          </a:graphicData>
        </a:graphic>
      </p:graphicFrame>
      <p:sp>
        <p:nvSpPr>
          <p:cNvPr id="21" name="TextBox 20"/>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22" name="TextBox 21"/>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20  /  QUALITY</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800" b="1" i="0">
                <a:solidFill>
                  <a:srgbClr val="EAF2F0"/>
                </a:solidFill>
                <a:latin typeface="Helvetica Neue"/>
              </a:rPr>
              <a:t>What “done” means in this build.</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1180" b="0" i="0">
                <a:solidFill>
                  <a:srgbClr val="8AA6A0"/>
                </a:solidFill>
                <a:latin typeface="Helvetica Neue"/>
              </a:rPr>
              <a:t>Every route is exercised in production, in both themes, with overflow checks and console-error capture. Mobile is checked separately.</a:t>
            </a:r>
          </a:p>
        </p:txBody>
      </p:sp>
      <p:graphicFrame>
        <p:nvGraphicFramePr>
          <p:cNvPr id="6" name="Table 5"/>
          <p:cNvGraphicFramePr>
            <a:graphicFrameLocks noGrp="1"/>
          </p:cNvGraphicFramePr>
          <p:nvPr/>
        </p:nvGraphicFramePr>
        <p:xfrm>
          <a:off x="502920" y="2103120"/>
          <a:ext cx="6583680" cy="2962656"/>
        </p:xfrm>
        <a:graphic>
          <a:graphicData uri="http://schemas.openxmlformats.org/drawingml/2006/table">
            <a:tbl>
              <a:tblPr firstRow="1" bandRow="1">
                <a:tableStyleId>{5C22544A-7EE6-4342-B048-85BDC9FD1C3A}</a:tableStyleId>
              </a:tblPr>
              <a:tblGrid>
                <a:gridCol w="2377440"/>
                <a:gridCol w="2926080"/>
                <a:gridCol w="1280160"/>
              </a:tblGrid>
              <a:tr h="384048">
                <a:tc>
                  <a:txBody>
                    <a:bodyPr/>
                    <a:lstStyle/>
                    <a:p>
                      <a:r>
                        <a:rPr sz="700" b="1">
                          <a:solidFill>
                            <a:srgbClr val="5F7875"/>
                          </a:solidFill>
                          <a:latin typeface="SF Mono"/>
                        </a:rPr>
                        <a:t>CHECK</a:t>
                      </a:r>
                    </a:p>
                  </a:txBody>
                  <a:tcPr marL="109728" marR="73152" marT="45720" marB="45720">
                    <a:solidFill>
                      <a:srgbClr val="0C171D"/>
                    </a:solidFill>
                  </a:tcPr>
                </a:tc>
                <a:tc>
                  <a:txBody>
                    <a:bodyPr/>
                    <a:lstStyle/>
                    <a:p>
                      <a:r>
                        <a:rPr sz="700" b="1">
                          <a:solidFill>
                            <a:srgbClr val="5F7875"/>
                          </a:solidFill>
                          <a:latin typeface="SF Mono"/>
                        </a:rPr>
                        <a:t>SCOPE</a:t>
                      </a:r>
                    </a:p>
                  </a:txBody>
                  <a:tcPr marL="109728" marR="73152" marT="45720" marB="45720">
                    <a:solidFill>
                      <a:srgbClr val="0C171D"/>
                    </a:solidFill>
                  </a:tcPr>
                </a:tc>
                <a:tc>
                  <a:txBody>
                    <a:bodyPr/>
                    <a:lstStyle/>
                    <a:p>
                      <a:r>
                        <a:rPr sz="700" b="1">
                          <a:solidFill>
                            <a:srgbClr val="5F7875"/>
                          </a:solidFill>
                          <a:latin typeface="SF Mono"/>
                        </a:rPr>
                        <a:t>RESULT</a:t>
                      </a:r>
                    </a:p>
                  </a:txBody>
                  <a:tcPr marL="109728" marR="73152" marT="45720" marB="45720">
                    <a:solidFill>
                      <a:srgbClr val="0C171D"/>
                    </a:solidFill>
                  </a:tcPr>
                </a:tc>
              </a:tr>
              <a:tr h="429768">
                <a:tc>
                  <a:txBody>
                    <a:bodyPr/>
                    <a:lstStyle/>
                    <a:p>
                      <a:r>
                        <a:rPr sz="800" b="0">
                          <a:solidFill>
                            <a:srgbClr val="EAF2F0"/>
                          </a:solidFill>
                          <a:latin typeface="SF Mono"/>
                        </a:rPr>
                        <a:t>TypeScript</a:t>
                      </a:r>
                    </a:p>
                  </a:txBody>
                  <a:tcPr marL="109728" marR="73152" marT="45720" marB="45720">
                    <a:solidFill>
                      <a:srgbClr val="091217"/>
                    </a:solidFill>
                  </a:tcPr>
                </a:tc>
                <a:tc>
                  <a:txBody>
                    <a:bodyPr/>
                    <a:lstStyle/>
                    <a:p>
                      <a:r>
                        <a:rPr sz="800" b="0">
                          <a:solidFill>
                            <a:srgbClr val="EAF2F0"/>
                          </a:solidFill>
                          <a:latin typeface="SF Mono"/>
                        </a:rPr>
                        <a:t>tsc -b, strict project references</a:t>
                      </a:r>
                    </a:p>
                  </a:txBody>
                  <a:tcPr marL="109728" marR="73152" marT="45720" marB="45720">
                    <a:solidFill>
                      <a:srgbClr val="091217"/>
                    </a:solidFill>
                  </a:tcPr>
                </a:tc>
                <a:tc>
                  <a:txBody>
                    <a:bodyPr/>
                    <a:lstStyle/>
                    <a:p>
                      <a:r>
                        <a:rPr sz="800" b="1">
                          <a:solidFill>
                            <a:srgbClr val="53F0BE"/>
                          </a:solidFill>
                          <a:latin typeface="SF Mono"/>
                        </a:rPr>
                        <a:t>PASS</a:t>
                      </a:r>
                    </a:p>
                  </a:txBody>
                  <a:tcPr marL="109728" marR="73152" marT="45720" marB="45720">
                    <a:solidFill>
                      <a:srgbClr val="091217"/>
                    </a:solidFill>
                  </a:tcPr>
                </a:tc>
              </a:tr>
              <a:tr h="429768">
                <a:tc>
                  <a:txBody>
                    <a:bodyPr/>
                    <a:lstStyle/>
                    <a:p>
                      <a:r>
                        <a:rPr sz="800" b="0">
                          <a:solidFill>
                            <a:srgbClr val="EAF2F0"/>
                          </a:solidFill>
                          <a:latin typeface="SF Mono"/>
                        </a:rPr>
                        <a:t>Production</a:t>
                      </a:r>
                    </a:p>
                  </a:txBody>
                  <a:tcPr marL="109728" marR="73152" marT="45720" marB="45720">
                    <a:solidFill>
                      <a:srgbClr val="091217"/>
                    </a:solidFill>
                  </a:tcPr>
                </a:tc>
                <a:tc>
                  <a:txBody>
                    <a:bodyPr/>
                    <a:lstStyle/>
                    <a:p>
                      <a:r>
                        <a:rPr sz="800" b="0">
                          <a:solidFill>
                            <a:srgbClr val="EAF2F0"/>
                          </a:solidFill>
                          <a:latin typeface="SF Mono"/>
                        </a:rPr>
                        <a:t>58 routes × 2 themes = 116</a:t>
                      </a:r>
                    </a:p>
                  </a:txBody>
                  <a:tcPr marL="109728" marR="73152" marT="45720" marB="45720">
                    <a:solidFill>
                      <a:srgbClr val="091217"/>
                    </a:solidFill>
                  </a:tcPr>
                </a:tc>
                <a:tc>
                  <a:txBody>
                    <a:bodyPr/>
                    <a:lstStyle/>
                    <a:p>
                      <a:r>
                        <a:rPr sz="800" b="1">
                          <a:solidFill>
                            <a:srgbClr val="53F0BE"/>
                          </a:solidFill>
                          <a:latin typeface="SF Mono"/>
                        </a:rPr>
                        <a:t>PASS</a:t>
                      </a:r>
                    </a:p>
                  </a:txBody>
                  <a:tcPr marL="109728" marR="73152" marT="45720" marB="45720">
                    <a:solidFill>
                      <a:srgbClr val="091217"/>
                    </a:solidFill>
                  </a:tcPr>
                </a:tc>
              </a:tr>
              <a:tr h="429768">
                <a:tc>
                  <a:txBody>
                    <a:bodyPr/>
                    <a:lstStyle/>
                    <a:p>
                      <a:r>
                        <a:rPr sz="800" b="0">
                          <a:solidFill>
                            <a:srgbClr val="EAF2F0"/>
                          </a:solidFill>
                          <a:latin typeface="SF Mono"/>
                        </a:rPr>
                        <a:t>Themes</a:t>
                      </a:r>
                    </a:p>
                  </a:txBody>
                  <a:tcPr marL="109728" marR="73152" marT="45720" marB="45720">
                    <a:solidFill>
                      <a:srgbClr val="091217"/>
                    </a:solidFill>
                  </a:tcPr>
                </a:tc>
                <a:tc>
                  <a:txBody>
                    <a:bodyPr/>
                    <a:lstStyle/>
                    <a:p>
                      <a:r>
                        <a:rPr sz="800" b="0">
                          <a:solidFill>
                            <a:srgbClr val="EAF2F0"/>
                          </a:solidFill>
                          <a:latin typeface="SF Mono"/>
                        </a:rPr>
                        <a:t>Dark default · light contrast pass</a:t>
                      </a:r>
                    </a:p>
                  </a:txBody>
                  <a:tcPr marL="109728" marR="73152" marT="45720" marB="45720">
                    <a:solidFill>
                      <a:srgbClr val="091217"/>
                    </a:solidFill>
                  </a:tcPr>
                </a:tc>
                <a:tc>
                  <a:txBody>
                    <a:bodyPr/>
                    <a:lstStyle/>
                    <a:p>
                      <a:r>
                        <a:rPr sz="800" b="1">
                          <a:solidFill>
                            <a:srgbClr val="53F0BE"/>
                          </a:solidFill>
                          <a:latin typeface="SF Mono"/>
                        </a:rPr>
                        <a:t>PASS</a:t>
                      </a:r>
                    </a:p>
                  </a:txBody>
                  <a:tcPr marL="109728" marR="73152" marT="45720" marB="45720">
                    <a:solidFill>
                      <a:srgbClr val="091217"/>
                    </a:solidFill>
                  </a:tcPr>
                </a:tc>
              </a:tr>
              <a:tr h="429768">
                <a:tc>
                  <a:txBody>
                    <a:bodyPr/>
                    <a:lstStyle/>
                    <a:p>
                      <a:r>
                        <a:rPr sz="800" b="0">
                          <a:solidFill>
                            <a:srgbClr val="EAF2F0"/>
                          </a:solidFill>
                          <a:latin typeface="SF Mono"/>
                        </a:rPr>
                        <a:t>3D scenes</a:t>
                      </a:r>
                    </a:p>
                  </a:txBody>
                  <a:tcPr marL="109728" marR="73152" marT="45720" marB="45720">
                    <a:solidFill>
                      <a:srgbClr val="091217"/>
                    </a:solidFill>
                  </a:tcPr>
                </a:tc>
                <a:tc>
                  <a:txBody>
                    <a:bodyPr/>
                    <a:lstStyle/>
                    <a:p>
                      <a:r>
                        <a:rPr sz="800" b="0">
                          <a:solidFill>
                            <a:srgbClr val="EAF2F0"/>
                          </a:solidFill>
                          <a:latin typeface="SF Mono"/>
                        </a:rPr>
                        <a:t>55 scenes · console clean</a:t>
                      </a:r>
                    </a:p>
                  </a:txBody>
                  <a:tcPr marL="109728" marR="73152" marT="45720" marB="45720">
                    <a:solidFill>
                      <a:srgbClr val="091217"/>
                    </a:solidFill>
                  </a:tcPr>
                </a:tc>
                <a:tc>
                  <a:txBody>
                    <a:bodyPr/>
                    <a:lstStyle/>
                    <a:p>
                      <a:r>
                        <a:rPr sz="800" b="1">
                          <a:solidFill>
                            <a:srgbClr val="53F0BE"/>
                          </a:solidFill>
                          <a:latin typeface="SF Mono"/>
                        </a:rPr>
                        <a:t>PASS</a:t>
                      </a:r>
                    </a:p>
                  </a:txBody>
                  <a:tcPr marL="109728" marR="73152" marT="45720" marB="45720">
                    <a:solidFill>
                      <a:srgbClr val="091217"/>
                    </a:solidFill>
                  </a:tcPr>
                </a:tc>
              </a:tr>
              <a:tr h="429768">
                <a:tc>
                  <a:txBody>
                    <a:bodyPr/>
                    <a:lstStyle/>
                    <a:p>
                      <a:r>
                        <a:rPr sz="800" b="0">
                          <a:solidFill>
                            <a:srgbClr val="EAF2F0"/>
                          </a:solidFill>
                          <a:latin typeface="SF Mono"/>
                        </a:rPr>
                        <a:t>Mobile</a:t>
                      </a:r>
                    </a:p>
                  </a:txBody>
                  <a:tcPr marL="109728" marR="73152" marT="45720" marB="45720">
                    <a:solidFill>
                      <a:srgbClr val="091217"/>
                    </a:solidFill>
                  </a:tcPr>
                </a:tc>
                <a:tc>
                  <a:txBody>
                    <a:bodyPr/>
                    <a:lstStyle/>
                    <a:p>
                      <a:r>
                        <a:rPr sz="800" b="0">
                          <a:solidFill>
                            <a:srgbClr val="EAF2F0"/>
                          </a:solidFill>
                          <a:latin typeface="SF Mono"/>
                        </a:rPr>
                        <a:t>390 px layout and overflow</a:t>
                      </a:r>
                    </a:p>
                  </a:txBody>
                  <a:tcPr marL="109728" marR="73152" marT="45720" marB="45720">
                    <a:solidFill>
                      <a:srgbClr val="091217"/>
                    </a:solidFill>
                  </a:tcPr>
                </a:tc>
                <a:tc>
                  <a:txBody>
                    <a:bodyPr/>
                    <a:lstStyle/>
                    <a:p>
                      <a:r>
                        <a:rPr sz="800" b="1">
                          <a:solidFill>
                            <a:srgbClr val="53F0BE"/>
                          </a:solidFill>
                          <a:latin typeface="SF Mono"/>
                        </a:rPr>
                        <a:t>PASS</a:t>
                      </a:r>
                    </a:p>
                  </a:txBody>
                  <a:tcPr marL="109728" marR="73152" marT="45720" marB="45720">
                    <a:solidFill>
                      <a:srgbClr val="091217"/>
                    </a:solidFill>
                  </a:tcPr>
                </a:tc>
              </a:tr>
              <a:tr h="429768">
                <a:tc>
                  <a:txBody>
                    <a:bodyPr/>
                    <a:lstStyle/>
                    <a:p>
                      <a:r>
                        <a:rPr sz="800" b="0">
                          <a:solidFill>
                            <a:srgbClr val="EAF2F0"/>
                          </a:solidFill>
                          <a:latin typeface="SF Mono"/>
                        </a:rPr>
                        <a:t>Build</a:t>
                      </a:r>
                    </a:p>
                  </a:txBody>
                  <a:tcPr marL="109728" marR="73152" marT="45720" marB="45720">
                    <a:solidFill>
                      <a:srgbClr val="091217"/>
                    </a:solidFill>
                  </a:tcPr>
                </a:tc>
                <a:tc>
                  <a:txBody>
                    <a:bodyPr/>
                    <a:lstStyle/>
                    <a:p>
                      <a:r>
                        <a:rPr sz="800" b="0">
                          <a:solidFill>
                            <a:srgbClr val="EAF2F0"/>
                          </a:solidFill>
                          <a:latin typeface="SF Mono"/>
                        </a:rPr>
                        <a:t>Vite production bundle</a:t>
                      </a:r>
                    </a:p>
                  </a:txBody>
                  <a:tcPr marL="109728" marR="73152" marT="45720" marB="45720">
                    <a:solidFill>
                      <a:srgbClr val="091217"/>
                    </a:solidFill>
                  </a:tcPr>
                </a:tc>
                <a:tc>
                  <a:txBody>
                    <a:bodyPr/>
                    <a:lstStyle/>
                    <a:p>
                      <a:r>
                        <a:rPr sz="800" b="1">
                          <a:solidFill>
                            <a:srgbClr val="53F0BE"/>
                          </a:solidFill>
                          <a:latin typeface="SF Mono"/>
                        </a:rPr>
                        <a:t>PASS</a:t>
                      </a:r>
                    </a:p>
                  </a:txBody>
                  <a:tcPr marL="109728" marR="73152" marT="45720" marB="45720">
                    <a:solidFill>
                      <a:srgbClr val="091217"/>
                    </a:solidFill>
                  </a:tcPr>
                </a:tc>
              </a:tr>
            </a:tbl>
          </a:graphicData>
        </a:graphic>
      </p:graphicFrame>
      <p:sp>
        <p:nvSpPr>
          <p:cNvPr id="7" name="Rounded Rectangle 6"/>
          <p:cNvSpPr/>
          <p:nvPr/>
        </p:nvSpPr>
        <p:spPr>
          <a:xfrm>
            <a:off x="7315200" y="2148840"/>
            <a:ext cx="2103120" cy="1115568"/>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2313432"/>
            <a:ext cx="1828800" cy="320040"/>
          </a:xfrm>
          <a:prstGeom prst="rect">
            <a:avLst/>
          </a:prstGeom>
          <a:noFill/>
        </p:spPr>
        <p:txBody>
          <a:bodyPr wrap="square" lIns="0" rIns="0" tIns="0" bIns="0">
            <a:spAutoFit/>
          </a:bodyPr>
          <a:lstStyle/>
          <a:p>
            <a:pPr algn="l">
              <a:lnSpc>
                <a:spcPct val="100000"/>
              </a:lnSpc>
            </a:pPr>
            <a:r>
              <a:rPr sz="1700" b="1" i="0">
                <a:solidFill>
                  <a:srgbClr val="EAF2F0"/>
                </a:solidFill>
                <a:latin typeface="Helvetica Neue"/>
              </a:rPr>
              <a:t>58</a:t>
            </a:r>
          </a:p>
        </p:txBody>
      </p:sp>
      <p:sp>
        <p:nvSpPr>
          <p:cNvPr id="9" name="TextBox 8"/>
          <p:cNvSpPr txBox="1"/>
          <p:nvPr/>
        </p:nvSpPr>
        <p:spPr>
          <a:xfrm>
            <a:off x="7452360" y="2807208"/>
            <a:ext cx="1828800" cy="182880"/>
          </a:xfrm>
          <a:prstGeom prst="rect">
            <a:avLst/>
          </a:prstGeom>
          <a:noFill/>
        </p:spPr>
        <p:txBody>
          <a:bodyPr wrap="square" lIns="0" rIns="0" tIns="0" bIns="0">
            <a:spAutoFit/>
          </a:bodyPr>
          <a:lstStyle/>
          <a:p>
            <a:pPr algn="l">
              <a:lnSpc>
                <a:spcPct val="100000"/>
              </a:lnSpc>
            </a:pPr>
            <a:r>
              <a:rPr sz="720" b="0" i="0">
                <a:solidFill>
                  <a:srgbClr val="53F0BE"/>
                </a:solidFill>
                <a:latin typeface="SF Mono"/>
              </a:rPr>
              <a:t>routes</a:t>
            </a:r>
          </a:p>
        </p:txBody>
      </p:sp>
      <p:sp>
        <p:nvSpPr>
          <p:cNvPr id="10" name="Rounded Rectangle 9"/>
          <p:cNvSpPr/>
          <p:nvPr/>
        </p:nvSpPr>
        <p:spPr>
          <a:xfrm>
            <a:off x="9601200" y="2148840"/>
            <a:ext cx="2103120" cy="1115568"/>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38360" y="2313432"/>
            <a:ext cx="1828800" cy="320040"/>
          </a:xfrm>
          <a:prstGeom prst="rect">
            <a:avLst/>
          </a:prstGeom>
          <a:noFill/>
        </p:spPr>
        <p:txBody>
          <a:bodyPr wrap="square" lIns="0" rIns="0" tIns="0" bIns="0">
            <a:spAutoFit/>
          </a:bodyPr>
          <a:lstStyle/>
          <a:p>
            <a:pPr algn="l">
              <a:lnSpc>
                <a:spcPct val="100000"/>
              </a:lnSpc>
            </a:pPr>
            <a:r>
              <a:rPr sz="1700" b="1" i="0">
                <a:solidFill>
                  <a:srgbClr val="EAF2F0"/>
                </a:solidFill>
                <a:latin typeface="Helvetica Neue"/>
              </a:rPr>
              <a:t>55</a:t>
            </a:r>
          </a:p>
        </p:txBody>
      </p:sp>
      <p:sp>
        <p:nvSpPr>
          <p:cNvPr id="12" name="TextBox 11"/>
          <p:cNvSpPr txBox="1"/>
          <p:nvPr/>
        </p:nvSpPr>
        <p:spPr>
          <a:xfrm>
            <a:off x="9738360" y="2807208"/>
            <a:ext cx="1828800" cy="182880"/>
          </a:xfrm>
          <a:prstGeom prst="rect">
            <a:avLst/>
          </a:prstGeom>
          <a:noFill/>
        </p:spPr>
        <p:txBody>
          <a:bodyPr wrap="square" lIns="0" rIns="0" tIns="0" bIns="0">
            <a:spAutoFit/>
          </a:bodyPr>
          <a:lstStyle/>
          <a:p>
            <a:pPr algn="l">
              <a:lnSpc>
                <a:spcPct val="100000"/>
              </a:lnSpc>
            </a:pPr>
            <a:r>
              <a:rPr sz="720" b="0" i="0">
                <a:solidFill>
                  <a:srgbClr val="53F0BE"/>
                </a:solidFill>
                <a:latin typeface="SF Mono"/>
              </a:rPr>
              <a:t>3D scenes</a:t>
            </a:r>
          </a:p>
        </p:txBody>
      </p:sp>
      <p:sp>
        <p:nvSpPr>
          <p:cNvPr id="13" name="Rounded Rectangle 12"/>
          <p:cNvSpPr/>
          <p:nvPr/>
        </p:nvSpPr>
        <p:spPr>
          <a:xfrm>
            <a:off x="7315200" y="3447288"/>
            <a:ext cx="2103120" cy="1115568"/>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52360" y="3611880"/>
            <a:ext cx="1828800" cy="320040"/>
          </a:xfrm>
          <a:prstGeom prst="rect">
            <a:avLst/>
          </a:prstGeom>
          <a:noFill/>
        </p:spPr>
        <p:txBody>
          <a:bodyPr wrap="square" lIns="0" rIns="0" tIns="0" bIns="0">
            <a:spAutoFit/>
          </a:bodyPr>
          <a:lstStyle/>
          <a:p>
            <a:pPr algn="l">
              <a:lnSpc>
                <a:spcPct val="100000"/>
              </a:lnSpc>
            </a:pPr>
            <a:r>
              <a:rPr sz="1700" b="1" i="0">
                <a:solidFill>
                  <a:srgbClr val="EAF2F0"/>
                </a:solidFill>
                <a:latin typeface="Helvetica Neue"/>
              </a:rPr>
              <a:t>116</a:t>
            </a:r>
          </a:p>
        </p:txBody>
      </p:sp>
      <p:sp>
        <p:nvSpPr>
          <p:cNvPr id="15" name="TextBox 14"/>
          <p:cNvSpPr txBox="1"/>
          <p:nvPr/>
        </p:nvSpPr>
        <p:spPr>
          <a:xfrm>
            <a:off x="7452360" y="4105656"/>
            <a:ext cx="1828800" cy="182880"/>
          </a:xfrm>
          <a:prstGeom prst="rect">
            <a:avLst/>
          </a:prstGeom>
          <a:noFill/>
        </p:spPr>
        <p:txBody>
          <a:bodyPr wrap="square" lIns="0" rIns="0" tIns="0" bIns="0">
            <a:spAutoFit/>
          </a:bodyPr>
          <a:lstStyle/>
          <a:p>
            <a:pPr algn="l">
              <a:lnSpc>
                <a:spcPct val="100000"/>
              </a:lnSpc>
            </a:pPr>
            <a:r>
              <a:rPr sz="720" b="0" i="0">
                <a:solidFill>
                  <a:srgbClr val="53F0BE"/>
                </a:solidFill>
                <a:latin typeface="SF Mono"/>
              </a:rPr>
              <a:t>checks</a:t>
            </a:r>
          </a:p>
        </p:txBody>
      </p:sp>
      <p:sp>
        <p:nvSpPr>
          <p:cNvPr id="16" name="Rounded Rectangle 15"/>
          <p:cNvSpPr/>
          <p:nvPr/>
        </p:nvSpPr>
        <p:spPr>
          <a:xfrm>
            <a:off x="9601200" y="3447288"/>
            <a:ext cx="2103120" cy="1115568"/>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8360" y="3611880"/>
            <a:ext cx="1828800" cy="320040"/>
          </a:xfrm>
          <a:prstGeom prst="rect">
            <a:avLst/>
          </a:prstGeom>
          <a:noFill/>
        </p:spPr>
        <p:txBody>
          <a:bodyPr wrap="square" lIns="0" rIns="0" tIns="0" bIns="0">
            <a:spAutoFit/>
          </a:bodyPr>
          <a:lstStyle/>
          <a:p>
            <a:pPr algn="l">
              <a:lnSpc>
                <a:spcPct val="100000"/>
              </a:lnSpc>
            </a:pPr>
            <a:r>
              <a:rPr sz="1700" b="1" i="0">
                <a:solidFill>
                  <a:srgbClr val="EAF2F0"/>
                </a:solidFill>
                <a:latin typeface="Helvetica Neue"/>
              </a:rPr>
              <a:t>0</a:t>
            </a:r>
          </a:p>
        </p:txBody>
      </p:sp>
      <p:sp>
        <p:nvSpPr>
          <p:cNvPr id="18" name="TextBox 17"/>
          <p:cNvSpPr txBox="1"/>
          <p:nvPr/>
        </p:nvSpPr>
        <p:spPr>
          <a:xfrm>
            <a:off x="9738360" y="4105656"/>
            <a:ext cx="1828800" cy="182880"/>
          </a:xfrm>
          <a:prstGeom prst="rect">
            <a:avLst/>
          </a:prstGeom>
          <a:noFill/>
        </p:spPr>
        <p:txBody>
          <a:bodyPr wrap="square" lIns="0" rIns="0" tIns="0" bIns="0">
            <a:spAutoFit/>
          </a:bodyPr>
          <a:lstStyle/>
          <a:p>
            <a:pPr algn="l">
              <a:lnSpc>
                <a:spcPct val="100000"/>
              </a:lnSpc>
            </a:pPr>
            <a:r>
              <a:rPr sz="720" b="0" i="0">
                <a:solidFill>
                  <a:srgbClr val="53F0BE"/>
                </a:solidFill>
                <a:latin typeface="SF Mono"/>
              </a:rPr>
              <a:t>console errors</a:t>
            </a:r>
          </a:p>
        </p:txBody>
      </p:sp>
      <p:sp>
        <p:nvSpPr>
          <p:cNvPr id="19" name="Rounded Rectangle 18"/>
          <p:cNvSpPr/>
          <p:nvPr/>
        </p:nvSpPr>
        <p:spPr>
          <a:xfrm>
            <a:off x="7315200" y="4745736"/>
            <a:ext cx="2103120" cy="1115568"/>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4910327"/>
            <a:ext cx="1828800" cy="320040"/>
          </a:xfrm>
          <a:prstGeom prst="rect">
            <a:avLst/>
          </a:prstGeom>
          <a:noFill/>
        </p:spPr>
        <p:txBody>
          <a:bodyPr wrap="square" lIns="0" rIns="0" tIns="0" bIns="0">
            <a:spAutoFit/>
          </a:bodyPr>
          <a:lstStyle/>
          <a:p>
            <a:pPr algn="l">
              <a:lnSpc>
                <a:spcPct val="100000"/>
              </a:lnSpc>
            </a:pPr>
            <a:r>
              <a:rPr sz="1700" b="1" i="0">
                <a:solidFill>
                  <a:srgbClr val="EAF2F0"/>
                </a:solidFill>
                <a:latin typeface="Helvetica Neue"/>
              </a:rPr>
              <a:t>8</a:t>
            </a:r>
          </a:p>
        </p:txBody>
      </p:sp>
      <p:sp>
        <p:nvSpPr>
          <p:cNvPr id="21" name="TextBox 20"/>
          <p:cNvSpPr txBox="1"/>
          <p:nvPr/>
        </p:nvSpPr>
        <p:spPr>
          <a:xfrm>
            <a:off x="7452360" y="5404103"/>
            <a:ext cx="1828800" cy="182880"/>
          </a:xfrm>
          <a:prstGeom prst="rect">
            <a:avLst/>
          </a:prstGeom>
          <a:noFill/>
        </p:spPr>
        <p:txBody>
          <a:bodyPr wrap="square" lIns="0" rIns="0" tIns="0" bIns="0">
            <a:spAutoFit/>
          </a:bodyPr>
          <a:lstStyle/>
          <a:p>
            <a:pPr algn="l">
              <a:lnSpc>
                <a:spcPct val="100000"/>
              </a:lnSpc>
            </a:pPr>
            <a:r>
              <a:rPr sz="720" b="0" i="0">
                <a:solidFill>
                  <a:srgbClr val="53F0BE"/>
                </a:solidFill>
                <a:latin typeface="SF Mono"/>
              </a:rPr>
              <a:t>languages</a:t>
            </a:r>
          </a:p>
        </p:txBody>
      </p:sp>
      <p:sp>
        <p:nvSpPr>
          <p:cNvPr id="22" name="Rounded Rectangle 21"/>
          <p:cNvSpPr/>
          <p:nvPr/>
        </p:nvSpPr>
        <p:spPr>
          <a:xfrm>
            <a:off x="9601200" y="4745736"/>
            <a:ext cx="2103120" cy="1115568"/>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38360" y="4910327"/>
            <a:ext cx="1828800" cy="320040"/>
          </a:xfrm>
          <a:prstGeom prst="rect">
            <a:avLst/>
          </a:prstGeom>
          <a:noFill/>
        </p:spPr>
        <p:txBody>
          <a:bodyPr wrap="square" lIns="0" rIns="0" tIns="0" bIns="0">
            <a:spAutoFit/>
          </a:bodyPr>
          <a:lstStyle/>
          <a:p>
            <a:pPr algn="l">
              <a:lnSpc>
                <a:spcPct val="100000"/>
              </a:lnSpc>
            </a:pPr>
            <a:r>
              <a:rPr sz="1700" b="1" i="0">
                <a:solidFill>
                  <a:srgbClr val="EAF2F0"/>
                </a:solidFill>
                <a:latin typeface="Helvetica Neue"/>
              </a:rPr>
              <a:t>390 px</a:t>
            </a:r>
          </a:p>
        </p:txBody>
      </p:sp>
      <p:sp>
        <p:nvSpPr>
          <p:cNvPr id="24" name="TextBox 23"/>
          <p:cNvSpPr txBox="1"/>
          <p:nvPr/>
        </p:nvSpPr>
        <p:spPr>
          <a:xfrm>
            <a:off x="9738360" y="5404103"/>
            <a:ext cx="1828800" cy="182880"/>
          </a:xfrm>
          <a:prstGeom prst="rect">
            <a:avLst/>
          </a:prstGeom>
          <a:noFill/>
        </p:spPr>
        <p:txBody>
          <a:bodyPr wrap="square" lIns="0" rIns="0" tIns="0" bIns="0">
            <a:spAutoFit/>
          </a:bodyPr>
          <a:lstStyle/>
          <a:p>
            <a:pPr algn="l">
              <a:lnSpc>
                <a:spcPct val="100000"/>
              </a:lnSpc>
            </a:pPr>
            <a:r>
              <a:rPr sz="720" b="0" i="0">
                <a:solidFill>
                  <a:srgbClr val="53F0BE"/>
                </a:solidFill>
                <a:latin typeface="SF Mono"/>
              </a:rPr>
              <a:t>mobile</a:t>
            </a:r>
          </a:p>
        </p:txBody>
      </p:sp>
      <p:sp>
        <p:nvSpPr>
          <p:cNvPr id="25" name="TextBox 24"/>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26" name="TextBox 25"/>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1828800" cy="228600"/>
          </a:xfrm>
          <a:prstGeom prst="rect">
            <a:avLst/>
          </a:prstGeom>
          <a:noFill/>
        </p:spPr>
        <p:txBody>
          <a:bodyPr wrap="square" lIns="0" rIns="0" tIns="0" bIns="0">
            <a:spAutoFit/>
          </a:bodyPr>
          <a:lstStyle/>
          <a:p>
            <a:pPr algn="l">
              <a:lnSpc>
                <a:spcPct val="100000"/>
              </a:lnSpc>
            </a:pPr>
            <a:r>
              <a:rPr sz="850" b="1" i="0">
                <a:solidFill>
                  <a:srgbClr val="53F0BE"/>
                </a:solidFill>
                <a:latin typeface="SF Mono"/>
              </a:rPr>
              <a:t>21  /  ROADMAP</a:t>
            </a:r>
          </a:p>
        </p:txBody>
      </p:sp>
      <p:sp>
        <p:nvSpPr>
          <p:cNvPr id="4" name="TextBox 3"/>
          <p:cNvSpPr txBox="1"/>
          <p:nvPr/>
        </p:nvSpPr>
        <p:spPr>
          <a:xfrm>
            <a:off x="502920" y="758952"/>
            <a:ext cx="11064240" cy="594360"/>
          </a:xfrm>
          <a:prstGeom prst="rect">
            <a:avLst/>
          </a:prstGeom>
          <a:noFill/>
        </p:spPr>
        <p:txBody>
          <a:bodyPr wrap="square" lIns="0" rIns="0" tIns="0" bIns="0">
            <a:spAutoFit/>
          </a:bodyPr>
          <a:lstStyle/>
          <a:p>
            <a:pPr algn="l">
              <a:lnSpc>
                <a:spcPct val="100000"/>
              </a:lnSpc>
            </a:pPr>
            <a:r>
              <a:rPr sz="2700" b="1" i="0">
                <a:solidFill>
                  <a:srgbClr val="EAF2F0"/>
                </a:solidFill>
                <a:latin typeface="Helvetica Neue"/>
              </a:rPr>
              <a:t>From a convincing demo to a deployable platform.</a:t>
            </a:r>
          </a:p>
        </p:txBody>
      </p:sp>
      <p:sp>
        <p:nvSpPr>
          <p:cNvPr id="5" name="TextBox 4"/>
          <p:cNvSpPr txBox="1"/>
          <p:nvPr/>
        </p:nvSpPr>
        <p:spPr>
          <a:xfrm>
            <a:off x="502920" y="1371600"/>
            <a:ext cx="10881360" cy="502920"/>
          </a:xfrm>
          <a:prstGeom prst="rect">
            <a:avLst/>
          </a:prstGeom>
          <a:noFill/>
        </p:spPr>
        <p:txBody>
          <a:bodyPr wrap="square" lIns="0" rIns="0" tIns="0" bIns="0">
            <a:spAutoFit/>
          </a:bodyPr>
          <a:lstStyle/>
          <a:p>
            <a:pPr algn="l">
              <a:lnSpc>
                <a:spcPct val="125000"/>
              </a:lnSpc>
            </a:pPr>
            <a:r>
              <a:rPr sz="1180" b="0" i="0">
                <a:solidFill>
                  <a:srgbClr val="8AA6A0"/>
                </a:solidFill>
                <a:latin typeface="Helvetica Neue"/>
              </a:rPr>
              <a:t>The current build is deliberately self-contained. The next four moves turn it into a live operating system.</a:t>
            </a:r>
          </a:p>
        </p:txBody>
      </p:sp>
      <p:sp>
        <p:nvSpPr>
          <p:cNvPr id="6" name="Rounded Rectangle 5"/>
          <p:cNvSpPr/>
          <p:nvPr/>
        </p:nvSpPr>
        <p:spPr>
          <a:xfrm>
            <a:off x="502920" y="2240280"/>
            <a:ext cx="2606040" cy="342900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395728"/>
            <a:ext cx="457200" cy="228600"/>
          </a:xfrm>
          <a:prstGeom prst="rect">
            <a:avLst/>
          </a:prstGeom>
          <a:noFill/>
        </p:spPr>
        <p:txBody>
          <a:bodyPr wrap="square" lIns="0" rIns="0" tIns="0" bIns="0">
            <a:spAutoFit/>
          </a:bodyPr>
          <a:lstStyle/>
          <a:p>
            <a:pPr algn="l">
              <a:lnSpc>
                <a:spcPct val="100000"/>
              </a:lnSpc>
            </a:pPr>
            <a:r>
              <a:rPr sz="1000" b="1" i="0">
                <a:solidFill>
                  <a:srgbClr val="76C9C9"/>
                </a:solidFill>
                <a:latin typeface="SF Mono"/>
              </a:rPr>
              <a:t>01</a:t>
            </a:r>
          </a:p>
        </p:txBody>
      </p:sp>
      <p:sp>
        <p:nvSpPr>
          <p:cNvPr id="8" name="TextBox 7"/>
          <p:cNvSpPr txBox="1"/>
          <p:nvPr/>
        </p:nvSpPr>
        <p:spPr>
          <a:xfrm>
            <a:off x="685800" y="2697480"/>
            <a:ext cx="2194560" cy="228600"/>
          </a:xfrm>
          <a:prstGeom prst="rect">
            <a:avLst/>
          </a:prstGeom>
          <a:noFill/>
        </p:spPr>
        <p:txBody>
          <a:bodyPr wrap="square" lIns="0" rIns="0" tIns="0" bIns="0">
            <a:spAutoFit/>
          </a:bodyPr>
          <a:lstStyle/>
          <a:p>
            <a:pPr algn="l">
              <a:lnSpc>
                <a:spcPct val="100000"/>
              </a:lnSpc>
            </a:pPr>
            <a:r>
              <a:rPr sz="919" b="1" i="0">
                <a:solidFill>
                  <a:srgbClr val="EAF2F0"/>
                </a:solidFill>
                <a:latin typeface="SF Mono"/>
              </a:rPr>
              <a:t>LIVE DATA</a:t>
            </a:r>
          </a:p>
        </p:txBody>
      </p:sp>
      <p:sp>
        <p:nvSpPr>
          <p:cNvPr id="9" name="TextBox 8"/>
          <p:cNvSpPr txBox="1"/>
          <p:nvPr/>
        </p:nvSpPr>
        <p:spPr>
          <a:xfrm>
            <a:off x="685800" y="3044952"/>
            <a:ext cx="2240280" cy="1417320"/>
          </a:xfrm>
          <a:prstGeom prst="rect">
            <a:avLst/>
          </a:prstGeom>
          <a:noFill/>
        </p:spPr>
        <p:txBody>
          <a:bodyPr wrap="square" lIns="0" rIns="0" tIns="0" bIns="0">
            <a:spAutoFit/>
          </a:bodyPr>
          <a:lstStyle/>
          <a:p>
            <a:pPr algn="l">
              <a:lnSpc>
                <a:spcPct val="115000"/>
              </a:lnSpc>
            </a:pPr>
            <a:r>
              <a:rPr sz="830" b="0" i="0">
                <a:solidFill>
                  <a:srgbClr val="8AA6A0"/>
                </a:solidFill>
                <a:latin typeface="Helvetica Neue"/>
              </a:rPr>
              <a:t>Connect BMS, IoT, access control, CDE and ERP through a governed integration layer.</a:t>
            </a:r>
          </a:p>
        </p:txBody>
      </p:sp>
      <p:sp>
        <p:nvSpPr>
          <p:cNvPr id="10" name="TextBox 9"/>
          <p:cNvSpPr txBox="1"/>
          <p:nvPr/>
        </p:nvSpPr>
        <p:spPr>
          <a:xfrm>
            <a:off x="685800" y="5166360"/>
            <a:ext cx="2194560" cy="182880"/>
          </a:xfrm>
          <a:prstGeom prst="rect">
            <a:avLst/>
          </a:prstGeom>
          <a:noFill/>
        </p:spPr>
        <p:txBody>
          <a:bodyPr wrap="square" lIns="0" rIns="0" tIns="0" bIns="0">
            <a:spAutoFit/>
          </a:bodyPr>
          <a:lstStyle/>
          <a:p>
            <a:pPr algn="l">
              <a:lnSpc>
                <a:spcPct val="100000"/>
              </a:lnSpc>
            </a:pPr>
            <a:r>
              <a:rPr sz="720" b="1" i="0">
                <a:solidFill>
                  <a:srgbClr val="76C9C9"/>
                </a:solidFill>
                <a:latin typeface="SF Mono"/>
              </a:rPr>
              <a:t>Q4 2026</a:t>
            </a:r>
          </a:p>
        </p:txBody>
      </p:sp>
      <p:sp>
        <p:nvSpPr>
          <p:cNvPr id="11" name="Rounded Rectangle 10"/>
          <p:cNvSpPr/>
          <p:nvPr/>
        </p:nvSpPr>
        <p:spPr>
          <a:xfrm>
            <a:off x="3291839" y="2240280"/>
            <a:ext cx="2606040" cy="342900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2395728"/>
            <a:ext cx="457200" cy="228600"/>
          </a:xfrm>
          <a:prstGeom prst="rect">
            <a:avLst/>
          </a:prstGeom>
          <a:noFill/>
        </p:spPr>
        <p:txBody>
          <a:bodyPr wrap="square" lIns="0" rIns="0" tIns="0" bIns="0">
            <a:spAutoFit/>
          </a:bodyPr>
          <a:lstStyle/>
          <a:p>
            <a:pPr algn="l">
              <a:lnSpc>
                <a:spcPct val="100000"/>
              </a:lnSpc>
            </a:pPr>
            <a:r>
              <a:rPr sz="1000" b="1" i="0">
                <a:solidFill>
                  <a:srgbClr val="53F0BE"/>
                </a:solidFill>
                <a:latin typeface="SF Mono"/>
              </a:rPr>
              <a:t>02</a:t>
            </a:r>
          </a:p>
        </p:txBody>
      </p:sp>
      <p:sp>
        <p:nvSpPr>
          <p:cNvPr id="13" name="TextBox 12"/>
          <p:cNvSpPr txBox="1"/>
          <p:nvPr/>
        </p:nvSpPr>
        <p:spPr>
          <a:xfrm>
            <a:off x="3474720" y="2697480"/>
            <a:ext cx="2194560" cy="228600"/>
          </a:xfrm>
          <a:prstGeom prst="rect">
            <a:avLst/>
          </a:prstGeom>
          <a:noFill/>
        </p:spPr>
        <p:txBody>
          <a:bodyPr wrap="square" lIns="0" rIns="0" tIns="0" bIns="0">
            <a:spAutoFit/>
          </a:bodyPr>
          <a:lstStyle/>
          <a:p>
            <a:pPr algn="l">
              <a:lnSpc>
                <a:spcPct val="100000"/>
              </a:lnSpc>
            </a:pPr>
            <a:r>
              <a:rPr sz="919" b="1" i="0">
                <a:solidFill>
                  <a:srgbClr val="EAF2F0"/>
                </a:solidFill>
                <a:latin typeface="SF Mono"/>
              </a:rPr>
              <a:t>ASSET LOD</a:t>
            </a:r>
          </a:p>
        </p:txBody>
      </p:sp>
      <p:sp>
        <p:nvSpPr>
          <p:cNvPr id="14" name="TextBox 13"/>
          <p:cNvSpPr txBox="1"/>
          <p:nvPr/>
        </p:nvSpPr>
        <p:spPr>
          <a:xfrm>
            <a:off x="3474720" y="3044952"/>
            <a:ext cx="2240280" cy="1417320"/>
          </a:xfrm>
          <a:prstGeom prst="rect">
            <a:avLst/>
          </a:prstGeom>
          <a:noFill/>
        </p:spPr>
        <p:txBody>
          <a:bodyPr wrap="square" lIns="0" rIns="0" tIns="0" bIns="0">
            <a:spAutoFit/>
          </a:bodyPr>
          <a:lstStyle/>
          <a:p>
            <a:pPr algn="l">
              <a:lnSpc>
                <a:spcPct val="115000"/>
              </a:lnSpc>
            </a:pPr>
            <a:r>
              <a:rPr sz="830" b="0" i="0">
                <a:solidFill>
                  <a:srgbClr val="8AA6A0"/>
                </a:solidFill>
                <a:latin typeface="Helvetica Neue"/>
              </a:rPr>
              <a:t>Decimated LODs for photoreal vehicles and buildings; scanned context for the Kai Tak site.</a:t>
            </a:r>
          </a:p>
        </p:txBody>
      </p:sp>
      <p:sp>
        <p:nvSpPr>
          <p:cNvPr id="15" name="TextBox 14"/>
          <p:cNvSpPr txBox="1"/>
          <p:nvPr/>
        </p:nvSpPr>
        <p:spPr>
          <a:xfrm>
            <a:off x="3474720" y="5166360"/>
            <a:ext cx="2194560" cy="182880"/>
          </a:xfrm>
          <a:prstGeom prst="rect">
            <a:avLst/>
          </a:prstGeom>
          <a:noFill/>
        </p:spPr>
        <p:txBody>
          <a:bodyPr wrap="square" lIns="0" rIns="0" tIns="0" bIns="0">
            <a:spAutoFit/>
          </a:bodyPr>
          <a:lstStyle/>
          <a:p>
            <a:pPr algn="l">
              <a:lnSpc>
                <a:spcPct val="100000"/>
              </a:lnSpc>
            </a:pPr>
            <a:r>
              <a:rPr sz="720" b="1" i="0">
                <a:solidFill>
                  <a:srgbClr val="53F0BE"/>
                </a:solidFill>
                <a:latin typeface="SF Mono"/>
              </a:rPr>
              <a:t>Q1 2027</a:t>
            </a:r>
          </a:p>
        </p:txBody>
      </p:sp>
      <p:sp>
        <p:nvSpPr>
          <p:cNvPr id="16" name="Rounded Rectangle 15"/>
          <p:cNvSpPr/>
          <p:nvPr/>
        </p:nvSpPr>
        <p:spPr>
          <a:xfrm>
            <a:off x="6080759" y="2240280"/>
            <a:ext cx="2606040" cy="342900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2395728"/>
            <a:ext cx="457200" cy="228600"/>
          </a:xfrm>
          <a:prstGeom prst="rect">
            <a:avLst/>
          </a:prstGeom>
          <a:noFill/>
        </p:spPr>
        <p:txBody>
          <a:bodyPr wrap="square" lIns="0" rIns="0" tIns="0" bIns="0">
            <a:spAutoFit/>
          </a:bodyPr>
          <a:lstStyle/>
          <a:p>
            <a:pPr algn="l">
              <a:lnSpc>
                <a:spcPct val="100000"/>
              </a:lnSpc>
            </a:pPr>
            <a:r>
              <a:rPr sz="1000" b="1" i="0">
                <a:solidFill>
                  <a:srgbClr val="F4BD72"/>
                </a:solidFill>
                <a:latin typeface="SF Mono"/>
              </a:rPr>
              <a:t>03</a:t>
            </a:r>
          </a:p>
        </p:txBody>
      </p:sp>
      <p:sp>
        <p:nvSpPr>
          <p:cNvPr id="18" name="TextBox 17"/>
          <p:cNvSpPr txBox="1"/>
          <p:nvPr/>
        </p:nvSpPr>
        <p:spPr>
          <a:xfrm>
            <a:off x="6263640" y="2697480"/>
            <a:ext cx="2194560" cy="228600"/>
          </a:xfrm>
          <a:prstGeom prst="rect">
            <a:avLst/>
          </a:prstGeom>
          <a:noFill/>
        </p:spPr>
        <p:txBody>
          <a:bodyPr wrap="square" lIns="0" rIns="0" tIns="0" bIns="0">
            <a:spAutoFit/>
          </a:bodyPr>
          <a:lstStyle/>
          <a:p>
            <a:pPr algn="l">
              <a:lnSpc>
                <a:spcPct val="100000"/>
              </a:lnSpc>
            </a:pPr>
            <a:r>
              <a:rPr sz="919" b="1" i="0">
                <a:solidFill>
                  <a:srgbClr val="EAF2F0"/>
                </a:solidFill>
                <a:latin typeface="SF Mono"/>
              </a:rPr>
              <a:t>AGENT PILOTS</a:t>
            </a:r>
          </a:p>
        </p:txBody>
      </p:sp>
      <p:sp>
        <p:nvSpPr>
          <p:cNvPr id="19" name="TextBox 18"/>
          <p:cNvSpPr txBox="1"/>
          <p:nvPr/>
        </p:nvSpPr>
        <p:spPr>
          <a:xfrm>
            <a:off x="6263640" y="3044952"/>
            <a:ext cx="2240280" cy="1417320"/>
          </a:xfrm>
          <a:prstGeom prst="rect">
            <a:avLst/>
          </a:prstGeom>
          <a:noFill/>
        </p:spPr>
        <p:txBody>
          <a:bodyPr wrap="square" lIns="0" rIns="0" tIns="0" bIns="0">
            <a:spAutoFit/>
          </a:bodyPr>
          <a:lstStyle/>
          <a:p>
            <a:pPr algn="l">
              <a:lnSpc>
                <a:spcPct val="115000"/>
              </a:lnSpc>
            </a:pPr>
            <a:r>
              <a:rPr sz="830" b="0" i="0">
                <a:solidFill>
                  <a:srgbClr val="8AA6A0"/>
                </a:solidFill>
                <a:latin typeface="Helvetica Neue"/>
              </a:rPr>
              <a:t>One COO agent with a narrow mandate, a human gate and a measurable decision baseline.</a:t>
            </a:r>
          </a:p>
        </p:txBody>
      </p:sp>
      <p:sp>
        <p:nvSpPr>
          <p:cNvPr id="20" name="TextBox 19"/>
          <p:cNvSpPr txBox="1"/>
          <p:nvPr/>
        </p:nvSpPr>
        <p:spPr>
          <a:xfrm>
            <a:off x="6263640" y="5166360"/>
            <a:ext cx="2194560" cy="182880"/>
          </a:xfrm>
          <a:prstGeom prst="rect">
            <a:avLst/>
          </a:prstGeom>
          <a:noFill/>
        </p:spPr>
        <p:txBody>
          <a:bodyPr wrap="square" lIns="0" rIns="0" tIns="0" bIns="0">
            <a:spAutoFit/>
          </a:bodyPr>
          <a:lstStyle/>
          <a:p>
            <a:pPr algn="l">
              <a:lnSpc>
                <a:spcPct val="100000"/>
              </a:lnSpc>
            </a:pPr>
            <a:r>
              <a:rPr sz="720" b="1" i="0">
                <a:solidFill>
                  <a:srgbClr val="F4BD72"/>
                </a:solidFill>
                <a:latin typeface="SF Mono"/>
              </a:rPr>
              <a:t>Q2 2027</a:t>
            </a:r>
          </a:p>
        </p:txBody>
      </p:sp>
      <p:sp>
        <p:nvSpPr>
          <p:cNvPr id="21" name="Rounded Rectangle 20"/>
          <p:cNvSpPr/>
          <p:nvPr/>
        </p:nvSpPr>
        <p:spPr>
          <a:xfrm>
            <a:off x="8869680" y="2240280"/>
            <a:ext cx="2606040" cy="342900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59" y="2395728"/>
            <a:ext cx="457200" cy="228600"/>
          </a:xfrm>
          <a:prstGeom prst="rect">
            <a:avLst/>
          </a:prstGeom>
          <a:noFill/>
        </p:spPr>
        <p:txBody>
          <a:bodyPr wrap="square" lIns="0" rIns="0" tIns="0" bIns="0">
            <a:spAutoFit/>
          </a:bodyPr>
          <a:lstStyle/>
          <a:p>
            <a:pPr algn="l">
              <a:lnSpc>
                <a:spcPct val="100000"/>
              </a:lnSpc>
            </a:pPr>
            <a:r>
              <a:rPr sz="1000" b="1" i="0">
                <a:solidFill>
                  <a:srgbClr val="A991FF"/>
                </a:solidFill>
                <a:latin typeface="SF Mono"/>
              </a:rPr>
              <a:t>04</a:t>
            </a:r>
          </a:p>
        </p:txBody>
      </p:sp>
      <p:sp>
        <p:nvSpPr>
          <p:cNvPr id="23" name="TextBox 22"/>
          <p:cNvSpPr txBox="1"/>
          <p:nvPr/>
        </p:nvSpPr>
        <p:spPr>
          <a:xfrm>
            <a:off x="9052559" y="2697480"/>
            <a:ext cx="2194560" cy="228600"/>
          </a:xfrm>
          <a:prstGeom prst="rect">
            <a:avLst/>
          </a:prstGeom>
          <a:noFill/>
        </p:spPr>
        <p:txBody>
          <a:bodyPr wrap="square" lIns="0" rIns="0" tIns="0" bIns="0">
            <a:spAutoFit/>
          </a:bodyPr>
          <a:lstStyle/>
          <a:p>
            <a:pPr algn="l">
              <a:lnSpc>
                <a:spcPct val="100000"/>
              </a:lnSpc>
            </a:pPr>
            <a:r>
              <a:rPr sz="919" b="1" i="0">
                <a:solidFill>
                  <a:srgbClr val="EAF2F0"/>
                </a:solidFill>
                <a:latin typeface="SF Mono"/>
              </a:rPr>
              <a:t>COMMERCIAL</a:t>
            </a:r>
          </a:p>
        </p:txBody>
      </p:sp>
      <p:sp>
        <p:nvSpPr>
          <p:cNvPr id="24" name="TextBox 23"/>
          <p:cNvSpPr txBox="1"/>
          <p:nvPr/>
        </p:nvSpPr>
        <p:spPr>
          <a:xfrm>
            <a:off x="9052559" y="3044952"/>
            <a:ext cx="2240280" cy="1417320"/>
          </a:xfrm>
          <a:prstGeom prst="rect">
            <a:avLst/>
          </a:prstGeom>
          <a:noFill/>
        </p:spPr>
        <p:txBody>
          <a:bodyPr wrap="square" lIns="0" rIns="0" tIns="0" bIns="0">
            <a:spAutoFit/>
          </a:bodyPr>
          <a:lstStyle/>
          <a:p>
            <a:pPr algn="l">
              <a:lnSpc>
                <a:spcPct val="115000"/>
              </a:lnSpc>
            </a:pPr>
            <a:r>
              <a:rPr sz="830" b="0" i="0">
                <a:solidFill>
                  <a:srgbClr val="8AA6A0"/>
                </a:solidFill>
                <a:latin typeface="Helvetica Neue"/>
              </a:rPr>
              <a:t>Multi-tenant deployment, SSO, RBAC, data residency and client-specific benchmarks.</a:t>
            </a:r>
          </a:p>
        </p:txBody>
      </p:sp>
      <p:sp>
        <p:nvSpPr>
          <p:cNvPr id="25" name="TextBox 24"/>
          <p:cNvSpPr txBox="1"/>
          <p:nvPr/>
        </p:nvSpPr>
        <p:spPr>
          <a:xfrm>
            <a:off x="9052559" y="5166360"/>
            <a:ext cx="2194560" cy="182880"/>
          </a:xfrm>
          <a:prstGeom prst="rect">
            <a:avLst/>
          </a:prstGeom>
          <a:noFill/>
        </p:spPr>
        <p:txBody>
          <a:bodyPr wrap="square" lIns="0" rIns="0" tIns="0" bIns="0">
            <a:spAutoFit/>
          </a:bodyPr>
          <a:lstStyle/>
          <a:p>
            <a:pPr algn="l">
              <a:lnSpc>
                <a:spcPct val="100000"/>
              </a:lnSpc>
            </a:pPr>
            <a:r>
              <a:rPr sz="720" b="1" i="0">
                <a:solidFill>
                  <a:srgbClr val="A991FF"/>
                </a:solidFill>
                <a:latin typeface="SF Mono"/>
              </a:rPr>
              <a:t>Q3 2027</a:t>
            </a:r>
          </a:p>
        </p:txBody>
      </p:sp>
      <p:sp>
        <p:nvSpPr>
          <p:cNvPr id="26" name="TextBox 25"/>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27" name="TextBox 26"/>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5090D"/>
        </a:solidFill>
        <a:effectLst/>
      </p:bgPr>
    </p:bg>
    <p:spTree>
      <p:nvGrpSpPr>
        <p:cNvPr id="1" name=""/>
        <p:cNvGrpSpPr/>
        <p:nvPr/>
      </p:nvGrpSpPr>
      <p:grpSpPr/>
      <p:sp>
        <p:nvSpPr>
          <p:cNvPr id="2" name="Rectangle 1"/>
          <p:cNvSpPr/>
          <p:nvPr/>
        </p:nvSpPr>
        <p:spPr>
          <a:xfrm>
            <a:off x="0" y="0"/>
            <a:ext cx="12191695" cy="32004"/>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914400"/>
            <a:ext cx="45720" cy="4023360"/>
          </a:xfrm>
          <a:prstGeom prst="rect">
            <a:avLst/>
          </a:prstGeom>
          <a:solidFill>
            <a:srgbClr val="53F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14400"/>
            <a:ext cx="6400800" cy="274320"/>
          </a:xfrm>
          <a:prstGeom prst="rect">
            <a:avLst/>
          </a:prstGeom>
          <a:noFill/>
        </p:spPr>
        <p:txBody>
          <a:bodyPr wrap="square" lIns="0" rIns="0" tIns="0" bIns="0">
            <a:spAutoFit/>
          </a:bodyPr>
          <a:lstStyle/>
          <a:p>
            <a:pPr algn="l">
              <a:lnSpc>
                <a:spcPct val="100000"/>
              </a:lnSpc>
            </a:pPr>
            <a:r>
              <a:rPr sz="900" b="1" i="0">
                <a:solidFill>
                  <a:srgbClr val="53F0BE"/>
                </a:solidFill>
                <a:latin typeface="SF Mono"/>
              </a:rPr>
              <a:t>OPHYLLA VENTURES OS</a:t>
            </a:r>
          </a:p>
        </p:txBody>
      </p:sp>
      <p:sp>
        <p:nvSpPr>
          <p:cNvPr id="5" name="TextBox 4"/>
          <p:cNvSpPr txBox="1"/>
          <p:nvPr/>
        </p:nvSpPr>
        <p:spPr>
          <a:xfrm>
            <a:off x="822960" y="1298448"/>
            <a:ext cx="6583680" cy="1417320"/>
          </a:xfrm>
          <a:prstGeom prst="rect">
            <a:avLst/>
          </a:prstGeom>
          <a:noFill/>
        </p:spPr>
        <p:txBody>
          <a:bodyPr wrap="square" lIns="0" rIns="0" tIns="0" bIns="0">
            <a:spAutoFit/>
          </a:bodyPr>
          <a:lstStyle/>
          <a:p>
            <a:pPr algn="l">
              <a:lnSpc>
                <a:spcPct val="102000"/>
              </a:lnSpc>
            </a:pPr>
            <a:r>
              <a:rPr sz="3600" b="1" i="0">
                <a:solidFill>
                  <a:srgbClr val="EAF2F0"/>
                </a:solidFill>
                <a:latin typeface="Helvetica Neue"/>
              </a:rPr>
              <a:t>One model.
One operating system.</a:t>
            </a:r>
          </a:p>
        </p:txBody>
      </p:sp>
      <p:sp>
        <p:nvSpPr>
          <p:cNvPr id="6" name="TextBox 5"/>
          <p:cNvSpPr txBox="1"/>
          <p:nvPr/>
        </p:nvSpPr>
        <p:spPr>
          <a:xfrm>
            <a:off x="822960" y="2880360"/>
            <a:ext cx="5669280" cy="502920"/>
          </a:xfrm>
          <a:prstGeom prst="rect">
            <a:avLst/>
          </a:prstGeom>
          <a:noFill/>
        </p:spPr>
        <p:txBody>
          <a:bodyPr wrap="square" lIns="0" rIns="0" tIns="0" bIns="0">
            <a:spAutoFit/>
          </a:bodyPr>
          <a:lstStyle/>
          <a:p>
            <a:pPr algn="l">
              <a:lnSpc>
                <a:spcPct val="125000"/>
              </a:lnSpc>
            </a:pPr>
            <a:r>
              <a:rPr sz="1180" b="0" i="0">
                <a:solidFill>
                  <a:srgbClr val="8AA6A0"/>
                </a:solidFill>
                <a:latin typeface="Helvetica Neue"/>
              </a:rPr>
              <a:t>A built-environment operating system for the COO: spatial truth, delivery truth, operating truth, commercial truth and governed decisions — on one navigable surface.</a:t>
            </a:r>
          </a:p>
        </p:txBody>
      </p:sp>
      <p:sp>
        <p:nvSpPr>
          <p:cNvPr id="7" name="TextBox 6"/>
          <p:cNvSpPr txBox="1"/>
          <p:nvPr/>
        </p:nvSpPr>
        <p:spPr>
          <a:xfrm>
            <a:off x="822960" y="4160520"/>
            <a:ext cx="1371600" cy="182880"/>
          </a:xfrm>
          <a:prstGeom prst="rect">
            <a:avLst/>
          </a:prstGeom>
          <a:noFill/>
        </p:spPr>
        <p:txBody>
          <a:bodyPr wrap="square" lIns="0" rIns="0" tIns="0" bIns="0">
            <a:spAutoFit/>
          </a:bodyPr>
          <a:lstStyle/>
          <a:p>
            <a:pPr algn="l">
              <a:lnSpc>
                <a:spcPct val="100000"/>
              </a:lnSpc>
            </a:pPr>
            <a:r>
              <a:rPr sz="660" b="1" i="0">
                <a:solidFill>
                  <a:srgbClr val="53F0BE"/>
                </a:solidFill>
                <a:latin typeface="SF Mono"/>
              </a:rPr>
              <a:t>LIVE DEMO</a:t>
            </a:r>
          </a:p>
        </p:txBody>
      </p:sp>
      <p:sp>
        <p:nvSpPr>
          <p:cNvPr id="8" name="TextBox 7"/>
          <p:cNvSpPr txBox="1"/>
          <p:nvPr/>
        </p:nvSpPr>
        <p:spPr>
          <a:xfrm>
            <a:off x="2240280" y="4160520"/>
            <a:ext cx="4572000" cy="201168"/>
          </a:xfrm>
          <a:prstGeom prst="rect">
            <a:avLst/>
          </a:prstGeom>
          <a:noFill/>
        </p:spPr>
        <p:txBody>
          <a:bodyPr wrap="square" lIns="0" rIns="0" tIns="0" bIns="0">
            <a:spAutoFit/>
          </a:bodyPr>
          <a:lstStyle/>
          <a:p>
            <a:pPr algn="l">
              <a:lnSpc>
                <a:spcPct val="100000"/>
              </a:lnSpc>
            </a:pPr>
            <a:r>
              <a:rPr sz="840" b="0" i="0">
                <a:solidFill>
                  <a:srgbClr val="EAF2F0"/>
                </a:solidFill>
                <a:latin typeface="Helvetica Neue"/>
              </a:rPr>
              <a:t>http://127.0.0.1:4320</a:t>
            </a:r>
          </a:p>
        </p:txBody>
      </p:sp>
      <p:sp>
        <p:nvSpPr>
          <p:cNvPr id="9" name="TextBox 8"/>
          <p:cNvSpPr txBox="1"/>
          <p:nvPr/>
        </p:nvSpPr>
        <p:spPr>
          <a:xfrm>
            <a:off x="822960" y="4663440"/>
            <a:ext cx="1371600" cy="182880"/>
          </a:xfrm>
          <a:prstGeom prst="rect">
            <a:avLst/>
          </a:prstGeom>
          <a:noFill/>
        </p:spPr>
        <p:txBody>
          <a:bodyPr wrap="square" lIns="0" rIns="0" tIns="0" bIns="0">
            <a:spAutoFit/>
          </a:bodyPr>
          <a:lstStyle/>
          <a:p>
            <a:pPr algn="l">
              <a:lnSpc>
                <a:spcPct val="100000"/>
              </a:lnSpc>
            </a:pPr>
            <a:r>
              <a:rPr sz="660" b="1" i="0">
                <a:solidFill>
                  <a:srgbClr val="53F0BE"/>
                </a:solidFill>
                <a:latin typeface="SF Mono"/>
              </a:rPr>
              <a:t>MODULES</a:t>
            </a:r>
          </a:p>
        </p:txBody>
      </p:sp>
      <p:sp>
        <p:nvSpPr>
          <p:cNvPr id="10" name="TextBox 9"/>
          <p:cNvSpPr txBox="1"/>
          <p:nvPr/>
        </p:nvSpPr>
        <p:spPr>
          <a:xfrm>
            <a:off x="2240280" y="4663440"/>
            <a:ext cx="4572000" cy="201168"/>
          </a:xfrm>
          <a:prstGeom prst="rect">
            <a:avLst/>
          </a:prstGeom>
          <a:noFill/>
        </p:spPr>
        <p:txBody>
          <a:bodyPr wrap="square" lIns="0" rIns="0" tIns="0" bIns="0">
            <a:spAutoFit/>
          </a:bodyPr>
          <a:lstStyle/>
          <a:p>
            <a:pPr algn="l">
              <a:lnSpc>
                <a:spcPct val="100000"/>
              </a:lnSpc>
            </a:pPr>
            <a:r>
              <a:rPr sz="840" b="0" i="0">
                <a:solidFill>
                  <a:srgbClr val="EAF2F0"/>
                </a:solidFill>
                <a:latin typeface="Helvetica Neue"/>
              </a:rPr>
              <a:t>58 routes · 55 scenes</a:t>
            </a:r>
          </a:p>
        </p:txBody>
      </p:sp>
      <p:sp>
        <p:nvSpPr>
          <p:cNvPr id="11" name="TextBox 10"/>
          <p:cNvSpPr txBox="1"/>
          <p:nvPr/>
        </p:nvSpPr>
        <p:spPr>
          <a:xfrm>
            <a:off x="822960" y="5166360"/>
            <a:ext cx="1371600" cy="182880"/>
          </a:xfrm>
          <a:prstGeom prst="rect">
            <a:avLst/>
          </a:prstGeom>
          <a:noFill/>
        </p:spPr>
        <p:txBody>
          <a:bodyPr wrap="square" lIns="0" rIns="0" tIns="0" bIns="0">
            <a:spAutoFit/>
          </a:bodyPr>
          <a:lstStyle/>
          <a:p>
            <a:pPr algn="l">
              <a:lnSpc>
                <a:spcPct val="100000"/>
              </a:lnSpc>
            </a:pPr>
            <a:r>
              <a:rPr sz="660" b="1" i="0">
                <a:solidFill>
                  <a:srgbClr val="53F0BE"/>
                </a:solidFill>
                <a:latin typeface="SF Mono"/>
              </a:rPr>
              <a:t>LANGUAGES</a:t>
            </a:r>
          </a:p>
        </p:txBody>
      </p:sp>
      <p:sp>
        <p:nvSpPr>
          <p:cNvPr id="12" name="TextBox 11"/>
          <p:cNvSpPr txBox="1"/>
          <p:nvPr/>
        </p:nvSpPr>
        <p:spPr>
          <a:xfrm>
            <a:off x="2240280" y="5166360"/>
            <a:ext cx="4572000" cy="201168"/>
          </a:xfrm>
          <a:prstGeom prst="rect">
            <a:avLst/>
          </a:prstGeom>
          <a:noFill/>
        </p:spPr>
        <p:txBody>
          <a:bodyPr wrap="square" lIns="0" rIns="0" tIns="0" bIns="0">
            <a:spAutoFit/>
          </a:bodyPr>
          <a:lstStyle/>
          <a:p>
            <a:pPr algn="l">
              <a:lnSpc>
                <a:spcPct val="100000"/>
              </a:lnSpc>
            </a:pPr>
            <a:r>
              <a:rPr sz="840" b="0" i="0">
                <a:solidFill>
                  <a:srgbClr val="EAF2F0"/>
                </a:solidFill>
                <a:latin typeface="Helvetica Neue"/>
              </a:rPr>
              <a:t>8 · dark default</a:t>
            </a:r>
          </a:p>
        </p:txBody>
      </p:sp>
      <p:pic>
        <p:nvPicPr>
          <p:cNvPr id="13" name="Picture 12" descr="place.jpg"/>
          <p:cNvPicPr>
            <a:picLocks noChangeAspect="1"/>
          </p:cNvPicPr>
          <p:nvPr/>
        </p:nvPicPr>
        <p:blipFill>
          <a:blip r:embed="rId2"/>
          <a:stretch>
            <a:fillRect/>
          </a:stretch>
        </p:blipFill>
        <p:spPr>
          <a:xfrm>
            <a:off x="6903720" y="1234440"/>
            <a:ext cx="4846320" cy="3017520"/>
          </a:xfrm>
          <a:prstGeom prst="rect">
            <a:avLst/>
          </a:prstGeom>
          <a:ln w="12700">
            <a:solidFill>
              <a:srgbClr val="1B2C33"/>
            </a:solidFill>
          </a:ln>
        </p:spPr>
      </p:pic>
      <p:sp>
        <p:nvSpPr>
          <p:cNvPr id="14" name="Rounded Rectangle 13"/>
          <p:cNvSpPr/>
          <p:nvPr/>
        </p:nvSpPr>
        <p:spPr>
          <a:xfrm>
            <a:off x="6903720" y="4526280"/>
            <a:ext cx="4846320" cy="1325880"/>
          </a:xfrm>
          <a:prstGeom prst="roundRect">
            <a:avLst>
              <a:gd name="adj" fmla="val 6000"/>
            </a:avLst>
          </a:prstGeom>
          <a:solidFill>
            <a:srgbClr val="091217"/>
          </a:solidFill>
          <a:ln w="9525">
            <a:solidFill>
              <a:srgbClr val="1B2C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4663440"/>
            <a:ext cx="4480560" cy="182880"/>
          </a:xfrm>
          <a:prstGeom prst="rect">
            <a:avLst/>
          </a:prstGeom>
          <a:noFill/>
        </p:spPr>
        <p:txBody>
          <a:bodyPr wrap="square" lIns="0" rIns="0" tIns="0" bIns="0">
            <a:spAutoFit/>
          </a:bodyPr>
          <a:lstStyle/>
          <a:p>
            <a:pPr algn="l">
              <a:lnSpc>
                <a:spcPct val="100000"/>
              </a:lnSpc>
            </a:pPr>
            <a:r>
              <a:rPr sz="680" b="1" i="0">
                <a:solidFill>
                  <a:srgbClr val="F4BD72"/>
                </a:solidFill>
                <a:latin typeface="SF Mono"/>
              </a:rPr>
              <a:t>ILLUSTRATIVE DEMO</a:t>
            </a:r>
          </a:p>
        </p:txBody>
      </p:sp>
      <p:sp>
        <p:nvSpPr>
          <p:cNvPr id="16" name="TextBox 15"/>
          <p:cNvSpPr txBox="1"/>
          <p:nvPr/>
        </p:nvSpPr>
        <p:spPr>
          <a:xfrm>
            <a:off x="7086600" y="4892040"/>
            <a:ext cx="4480560" cy="822960"/>
          </a:xfrm>
          <a:prstGeom prst="rect">
            <a:avLst/>
          </a:prstGeom>
          <a:noFill/>
        </p:spPr>
        <p:txBody>
          <a:bodyPr wrap="square" lIns="0" rIns="0" tIns="0" bIns="0">
            <a:spAutoFit/>
          </a:bodyPr>
          <a:lstStyle/>
          <a:p>
            <a:pPr algn="l">
              <a:lnSpc>
                <a:spcPct val="115000"/>
              </a:lnSpc>
            </a:pPr>
            <a:r>
              <a:rPr sz="760" b="0" i="0">
                <a:solidFill>
                  <a:srgbClr val="8AA6A0"/>
                </a:solidFill>
                <a:latin typeface="Helvetica Neue"/>
              </a:rPr>
              <a:t>All data, project names and operating metrics are illustrative. No live client systems are connected.</a:t>
            </a:r>
          </a:p>
        </p:txBody>
      </p:sp>
      <p:sp>
        <p:nvSpPr>
          <p:cNvPr id="17" name="TextBox 16"/>
          <p:cNvSpPr txBox="1"/>
          <p:nvPr/>
        </p:nvSpPr>
        <p:spPr>
          <a:xfrm>
            <a:off x="502920" y="6547104"/>
            <a:ext cx="8961120" cy="182880"/>
          </a:xfrm>
          <a:prstGeom prst="rect">
            <a:avLst/>
          </a:prstGeom>
          <a:noFill/>
        </p:spPr>
        <p:txBody>
          <a:bodyPr wrap="none">
            <a:spAutoFit/>
          </a:bodyPr>
          <a:lstStyle/>
          <a:p>
            <a:r>
              <a:rPr sz="750">
                <a:solidFill>
                  <a:srgbClr val="5F7875"/>
                </a:solidFill>
                <a:latin typeface="SF Mono"/>
              </a:rPr>
              <a:t>OPHYLLA VENTURES OS   ·   PLATFORM OVERVIEW   ·   OCTOBER 2026</a:t>
            </a:r>
          </a:p>
        </p:txBody>
      </p:sp>
      <p:sp>
        <p:nvSpPr>
          <p:cNvPr id="18" name="TextBox 17"/>
          <p:cNvSpPr txBox="1"/>
          <p:nvPr/>
        </p:nvSpPr>
        <p:spPr>
          <a:xfrm>
            <a:off x="10927080" y="6510528"/>
            <a:ext cx="777240" cy="228600"/>
          </a:xfrm>
          <a:prstGeom prst="rect">
            <a:avLst/>
          </a:prstGeom>
          <a:noFill/>
        </p:spPr>
        <p:txBody>
          <a:bodyPr wrap="none">
            <a:spAutoFit/>
          </a:bodyPr>
          <a:lstStyle/>
          <a:p>
            <a:pPr algn="r"/>
            <a:r>
              <a:rPr sz="900">
                <a:solidFill>
                  <a:srgbClr val="8AA6A0"/>
                </a:solidFill>
                <a:latin typeface="SF Mono"/>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